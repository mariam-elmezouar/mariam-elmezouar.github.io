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969696"/>
    <a:srgbClr val="808080"/>
    <a:srgbClr val="66FF33"/>
    <a:srgbClr val="DDDDDD"/>
    <a:srgbClr val="3366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2787"/>
    <p:restoredTop sz="90929"/>
  </p:normalViewPr>
  <p:slideViewPr>
    <p:cSldViewPr>
      <p:cViewPr varScale="1">
        <p:scale>
          <a:sx n="127" d="100"/>
          <a:sy n="127" d="100"/>
        </p:scale>
        <p:origin x="2080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2BE57-786E-469C-A5D3-CAFE15F5FCED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199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8B6E16-D33D-48E6-8E99-540A7D077CDB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765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5177A-DFA8-4EC6-ADC5-DEC58F143796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370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EB7E8C-16B0-4ABB-A08A-19E8999DC4CF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96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6AE1D-8403-412B-BEC3-391BCC0F355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816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1E5AD-378E-4250-AADE-25912218C023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98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88705-BE73-4EBF-A7CE-7D9BAB454785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147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7D9C4-3416-4798-9E1C-30299D08A795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972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447F8-CCA5-4C31-829F-3910CFAA9867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433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9595A-7DCE-497E-96A6-FC1A03177963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603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EF68E6-5D07-46BC-B15E-6C02F0E152FF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28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smtClean="0"/>
              <a:t>Click to edit Master text styles</a:t>
            </a:r>
          </a:p>
          <a:p>
            <a:pPr lvl="1"/>
            <a:r>
              <a:rPr lang="en-CA" altLang="en-US" smtClean="0"/>
              <a:t>Second level</a:t>
            </a:r>
          </a:p>
          <a:p>
            <a:pPr lvl="2"/>
            <a:r>
              <a:rPr lang="en-CA" altLang="en-US" smtClean="0"/>
              <a:t>Third level</a:t>
            </a:r>
          </a:p>
          <a:p>
            <a:pPr lvl="3"/>
            <a:r>
              <a:rPr lang="en-CA" altLang="en-US" smtClean="0"/>
              <a:t>Fourth level</a:t>
            </a:r>
          </a:p>
          <a:p>
            <a:pPr lvl="4"/>
            <a:r>
              <a:rPr lang="en-CA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6116DBE-41D3-4383-9D20-BC69F87CF296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5" Type="http://schemas.openxmlformats.org/officeDocument/2006/relationships/image" Target="../media/image4.wmf"/><Relationship Id="rId6" Type="http://schemas.openxmlformats.org/officeDocument/2006/relationships/image" Target="../media/image5.wmf"/><Relationship Id="rId7" Type="http://schemas.openxmlformats.org/officeDocument/2006/relationships/image" Target="../media/image6.w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Rectangle 11"/>
          <p:cNvSpPr>
            <a:spLocks noChangeArrowheads="1"/>
          </p:cNvSpPr>
          <p:nvPr/>
        </p:nvSpPr>
        <p:spPr bwMode="auto">
          <a:xfrm>
            <a:off x="107504" y="72008"/>
            <a:ext cx="5399009" cy="6597352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61" name="Rectangle 12"/>
          <p:cNvSpPr>
            <a:spLocks noChangeArrowheads="1"/>
          </p:cNvSpPr>
          <p:nvPr/>
        </p:nvSpPr>
        <p:spPr bwMode="auto">
          <a:xfrm>
            <a:off x="6300192" y="981075"/>
            <a:ext cx="2591396" cy="295275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62" name="Text Box 15"/>
          <p:cNvSpPr txBox="1">
            <a:spLocks noChangeArrowheads="1"/>
          </p:cNvSpPr>
          <p:nvPr/>
        </p:nvSpPr>
        <p:spPr bwMode="auto">
          <a:xfrm>
            <a:off x="6156325" y="692150"/>
            <a:ext cx="259237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1400" dirty="0"/>
              <a:t>Common Network (</a:t>
            </a:r>
            <a:r>
              <a:rPr lang="en-US" altLang="en-US" sz="1400" dirty="0" smtClean="0"/>
              <a:t>10.12.0.0/16</a:t>
            </a:r>
            <a:r>
              <a:rPr lang="en-US" altLang="en-US" sz="1400" dirty="0"/>
              <a:t>)</a:t>
            </a:r>
          </a:p>
        </p:txBody>
      </p:sp>
      <p:sp>
        <p:nvSpPr>
          <p:cNvPr id="2063" name="Line 17"/>
          <p:cNvSpPr>
            <a:spLocks noChangeShapeType="1"/>
          </p:cNvSpPr>
          <p:nvPr/>
        </p:nvSpPr>
        <p:spPr bwMode="auto">
          <a:xfrm flipV="1">
            <a:off x="6660232" y="1557338"/>
            <a:ext cx="1080418" cy="10075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grpSp>
        <p:nvGrpSpPr>
          <p:cNvPr id="2064" name="Group 74"/>
          <p:cNvGrpSpPr>
            <a:grpSpLocks/>
          </p:cNvGrpSpPr>
          <p:nvPr/>
        </p:nvGrpSpPr>
        <p:grpSpPr bwMode="auto">
          <a:xfrm>
            <a:off x="6155605" y="1916832"/>
            <a:ext cx="1008062" cy="1460500"/>
            <a:chOff x="3424" y="981"/>
            <a:chExt cx="635" cy="920"/>
          </a:xfrm>
        </p:grpSpPr>
        <p:sp>
          <p:nvSpPr>
            <p:cNvPr id="2080" name="Text Box 16"/>
            <p:cNvSpPr txBox="1">
              <a:spLocks noChangeArrowheads="1"/>
            </p:cNvSpPr>
            <p:nvPr/>
          </p:nvSpPr>
          <p:spPr bwMode="auto">
            <a:xfrm>
              <a:off x="3424" y="981"/>
              <a:ext cx="635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400" dirty="0"/>
                <a:t>Common Hub</a:t>
              </a:r>
            </a:p>
          </p:txBody>
        </p:sp>
        <p:pic>
          <p:nvPicPr>
            <p:cNvPr id="2081" name="Picture 3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5400000">
              <a:off x="3446" y="1504"/>
              <a:ext cx="557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65" name="Group 60"/>
          <p:cNvGrpSpPr>
            <a:grpSpLocks/>
          </p:cNvGrpSpPr>
          <p:nvPr/>
        </p:nvGrpSpPr>
        <p:grpSpPr bwMode="auto">
          <a:xfrm>
            <a:off x="7596188" y="1196975"/>
            <a:ext cx="1008062" cy="863600"/>
            <a:chOff x="4649" y="754"/>
            <a:chExt cx="635" cy="544"/>
          </a:xfrm>
        </p:grpSpPr>
        <p:pic>
          <p:nvPicPr>
            <p:cNvPr id="2078" name="Picture 2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9" y="754"/>
              <a:ext cx="635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9" name="Text Box 45"/>
            <p:cNvSpPr txBox="1">
              <a:spLocks noChangeArrowheads="1"/>
            </p:cNvSpPr>
            <p:nvPr/>
          </p:nvSpPr>
          <p:spPr bwMode="auto">
            <a:xfrm>
              <a:off x="4694" y="799"/>
              <a:ext cx="54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400"/>
                <a:t>Server VM</a:t>
              </a:r>
            </a:p>
          </p:txBody>
        </p:sp>
      </p:grpSp>
      <p:sp>
        <p:nvSpPr>
          <p:cNvPr id="2066" name="Line 46"/>
          <p:cNvSpPr>
            <a:spLocks noChangeShapeType="1"/>
          </p:cNvSpPr>
          <p:nvPr/>
        </p:nvSpPr>
        <p:spPr bwMode="auto">
          <a:xfrm flipV="1">
            <a:off x="6876256" y="3068638"/>
            <a:ext cx="864394" cy="3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grpSp>
        <p:nvGrpSpPr>
          <p:cNvPr id="2067" name="Group 61"/>
          <p:cNvGrpSpPr>
            <a:grpSpLocks/>
          </p:cNvGrpSpPr>
          <p:nvPr/>
        </p:nvGrpSpPr>
        <p:grpSpPr bwMode="auto">
          <a:xfrm>
            <a:off x="7524750" y="2781300"/>
            <a:ext cx="1200150" cy="654050"/>
            <a:chOff x="4604" y="1752"/>
            <a:chExt cx="756" cy="412"/>
          </a:xfrm>
        </p:grpSpPr>
        <p:pic>
          <p:nvPicPr>
            <p:cNvPr id="2076" name="Picture 2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94" y="1752"/>
              <a:ext cx="666" cy="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77" name="Text Box 59"/>
            <p:cNvSpPr txBox="1">
              <a:spLocks noChangeArrowheads="1"/>
            </p:cNvSpPr>
            <p:nvPr/>
          </p:nvSpPr>
          <p:spPr bwMode="auto">
            <a:xfrm>
              <a:off x="4604" y="1842"/>
              <a:ext cx="63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en-US" sz="1400"/>
                <a:t>Printer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79512" y="5589240"/>
            <a:ext cx="3097212" cy="1081087"/>
            <a:chOff x="897533" y="5660802"/>
            <a:chExt cx="3097212" cy="1081087"/>
          </a:xfrm>
        </p:grpSpPr>
        <p:grpSp>
          <p:nvGrpSpPr>
            <p:cNvPr id="2056" name="Group 66"/>
            <p:cNvGrpSpPr>
              <a:grpSpLocks/>
            </p:cNvGrpSpPr>
            <p:nvPr/>
          </p:nvGrpSpPr>
          <p:grpSpPr bwMode="auto">
            <a:xfrm>
              <a:off x="2843808" y="5805264"/>
              <a:ext cx="1150937" cy="936625"/>
              <a:chOff x="1066" y="754"/>
              <a:chExt cx="725" cy="590"/>
            </a:xfrm>
          </p:grpSpPr>
          <p:pic>
            <p:nvPicPr>
              <p:cNvPr id="2097" name="Picture 34"/>
              <p:cNvPicPr>
                <a:picLocks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" y="754"/>
                <a:ext cx="725" cy="5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98" name="Text Box 42"/>
              <p:cNvSpPr txBox="1">
                <a:spLocks noChangeArrowheads="1"/>
              </p:cNvSpPr>
              <p:nvPr/>
            </p:nvSpPr>
            <p:spPr bwMode="auto">
              <a:xfrm>
                <a:off x="1073" y="841"/>
                <a:ext cx="635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400" dirty="0"/>
                  <a:t>U</a:t>
                </a:r>
                <a:r>
                  <a:rPr lang="en-US" altLang="en-US" sz="1400" dirty="0" smtClean="0"/>
                  <a:t>ser</a:t>
                </a:r>
                <a:endParaRPr lang="en-US" altLang="en-US" sz="1400" dirty="0"/>
              </a:p>
            </p:txBody>
          </p:sp>
        </p:grpSp>
        <p:sp>
          <p:nvSpPr>
            <p:cNvPr id="2069" name="TextBox 52"/>
            <p:cNvSpPr txBox="1">
              <a:spLocks noChangeArrowheads="1"/>
            </p:cNvSpPr>
            <p:nvPr/>
          </p:nvSpPr>
          <p:spPr bwMode="auto">
            <a:xfrm>
              <a:off x="897533" y="5660802"/>
              <a:ext cx="2447925" cy="646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/>
              <a:r>
                <a:rPr lang="en-CA" altLang="en-US" sz="1200" dirty="0" smtClean="0"/>
                <a:t>Alfa Adapter</a:t>
              </a:r>
              <a:endParaRPr lang="en-CA" altLang="en-US" sz="1200" dirty="0"/>
            </a:p>
            <a:p>
              <a:pPr eaLnBrk="1" hangingPunct="1"/>
              <a:r>
                <a:rPr lang="en-CA" altLang="en-US" sz="1200" dirty="0"/>
                <a:t>IP: ________________ / ___</a:t>
              </a:r>
            </a:p>
            <a:p>
              <a:pPr eaLnBrk="1" hangingPunct="1"/>
              <a:r>
                <a:rPr lang="en-CA" altLang="en-US" sz="1200" dirty="0"/>
                <a:t>Gateway: ___.___.___.___</a:t>
              </a:r>
            </a:p>
          </p:txBody>
        </p:sp>
      </p:grpSp>
      <p:sp>
        <p:nvSpPr>
          <p:cNvPr id="2073" name="TextBox 50"/>
          <p:cNvSpPr txBox="1">
            <a:spLocks noChangeArrowheads="1"/>
          </p:cNvSpPr>
          <p:nvPr/>
        </p:nvSpPr>
        <p:spPr bwMode="auto">
          <a:xfrm>
            <a:off x="7164388" y="2060575"/>
            <a:ext cx="1871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CA" altLang="en-US" sz="1200" dirty="0"/>
              <a:t>IP: </a:t>
            </a:r>
            <a:r>
              <a:rPr lang="en-CA" altLang="en-US" sz="1200" dirty="0" smtClean="0"/>
              <a:t>10.12.___.</a:t>
            </a:r>
            <a:r>
              <a:rPr lang="en-CA" altLang="en-US" sz="1200" dirty="0"/>
              <a:t>1</a:t>
            </a:r>
          </a:p>
        </p:txBody>
      </p:sp>
      <p:sp>
        <p:nvSpPr>
          <p:cNvPr id="2074" name="TextBox 50"/>
          <p:cNvSpPr txBox="1">
            <a:spLocks noChangeArrowheads="1"/>
          </p:cNvSpPr>
          <p:nvPr/>
        </p:nvSpPr>
        <p:spPr bwMode="auto">
          <a:xfrm>
            <a:off x="7164388" y="3429000"/>
            <a:ext cx="18716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algn="ctr" eaLnBrk="1" hangingPunct="1"/>
            <a:r>
              <a:rPr lang="en-CA" altLang="en-US" sz="1200" dirty="0"/>
              <a:t>IP: </a:t>
            </a:r>
            <a:r>
              <a:rPr lang="en-CA" altLang="en-US" sz="1200" dirty="0" smtClean="0"/>
              <a:t>10.12.0.8</a:t>
            </a:r>
            <a:endParaRPr lang="en-CA" altLang="en-US" sz="1200" dirty="0"/>
          </a:p>
        </p:txBody>
      </p:sp>
      <p:grpSp>
        <p:nvGrpSpPr>
          <p:cNvPr id="3" name="Group 2"/>
          <p:cNvGrpSpPr/>
          <p:nvPr/>
        </p:nvGrpSpPr>
        <p:grpSpPr>
          <a:xfrm>
            <a:off x="179512" y="3212976"/>
            <a:ext cx="5616277" cy="1110035"/>
            <a:chOff x="107504" y="2348880"/>
            <a:chExt cx="5616277" cy="1110035"/>
          </a:xfrm>
        </p:grpSpPr>
        <p:grpSp>
          <p:nvGrpSpPr>
            <p:cNvPr id="2057" name="Group 67"/>
            <p:cNvGrpSpPr>
              <a:grpSpLocks/>
            </p:cNvGrpSpPr>
            <p:nvPr/>
          </p:nvGrpSpPr>
          <p:grpSpPr bwMode="auto">
            <a:xfrm>
              <a:off x="2123728" y="2348880"/>
              <a:ext cx="1152525" cy="1079500"/>
              <a:chOff x="1111" y="1480"/>
              <a:chExt cx="726" cy="680"/>
            </a:xfrm>
          </p:grpSpPr>
          <p:pic>
            <p:nvPicPr>
              <p:cNvPr id="2095" name="Picture 37"/>
              <p:cNvPicPr>
                <a:picLocks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1" y="1480"/>
                <a:ext cx="726" cy="6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96" name="Text Box 43"/>
              <p:cNvSpPr txBox="1">
                <a:spLocks noChangeArrowheads="1"/>
              </p:cNvSpPr>
              <p:nvPr/>
            </p:nvSpPr>
            <p:spPr bwMode="auto">
              <a:xfrm>
                <a:off x="1202" y="1562"/>
                <a:ext cx="49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400" dirty="0" smtClean="0"/>
                  <a:t>Firewall 2</a:t>
                </a:r>
                <a:endParaRPr lang="en-US" altLang="en-US" sz="1400" dirty="0"/>
              </a:p>
            </p:txBody>
          </p:sp>
        </p:grpSp>
        <p:sp>
          <p:nvSpPr>
            <p:cNvPr id="2070" name="TextBox 52"/>
            <p:cNvSpPr txBox="1">
              <a:spLocks noChangeArrowheads="1"/>
            </p:cNvSpPr>
            <p:nvPr/>
          </p:nvSpPr>
          <p:spPr bwMode="auto">
            <a:xfrm>
              <a:off x="107504" y="2996952"/>
              <a:ext cx="24479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/>
              <a:r>
                <a:rPr lang="en-CA" altLang="en-US" sz="1200" dirty="0" smtClean="0"/>
                <a:t>Alfa Interface</a:t>
              </a:r>
              <a:endParaRPr lang="en-CA" altLang="en-US" sz="1200" dirty="0"/>
            </a:p>
            <a:p>
              <a:pPr eaLnBrk="1" hangingPunct="1"/>
              <a:r>
                <a:rPr lang="en-CA" altLang="en-US" sz="1200" dirty="0"/>
                <a:t>IP: ________________ / ___</a:t>
              </a:r>
            </a:p>
          </p:txBody>
        </p:sp>
        <p:sp>
          <p:nvSpPr>
            <p:cNvPr id="2071" name="TextBox 52"/>
            <p:cNvSpPr txBox="1">
              <a:spLocks noChangeArrowheads="1"/>
            </p:cNvSpPr>
            <p:nvPr/>
          </p:nvSpPr>
          <p:spPr bwMode="auto">
            <a:xfrm>
              <a:off x="3275856" y="2996952"/>
              <a:ext cx="24479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/>
              <a:r>
                <a:rPr lang="en-CA" altLang="en-US" sz="1200" dirty="0" smtClean="0"/>
                <a:t>Bravo Interface</a:t>
              </a:r>
              <a:endParaRPr lang="en-CA" altLang="en-US" sz="1200" dirty="0"/>
            </a:p>
            <a:p>
              <a:pPr eaLnBrk="1" hangingPunct="1"/>
              <a:r>
                <a:rPr lang="en-CA" altLang="en-US" sz="1200" dirty="0"/>
                <a:t>IP: ________________ / ___</a:t>
              </a:r>
            </a:p>
          </p:txBody>
        </p:sp>
        <p:sp>
          <p:nvSpPr>
            <p:cNvPr id="2075" name="TextBox 50"/>
            <p:cNvSpPr txBox="1">
              <a:spLocks noChangeArrowheads="1"/>
            </p:cNvSpPr>
            <p:nvPr/>
          </p:nvSpPr>
          <p:spPr bwMode="auto">
            <a:xfrm>
              <a:off x="3275856" y="2636912"/>
              <a:ext cx="1871662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CA" altLang="en-US" sz="1200" dirty="0"/>
                <a:t>Gateway: ___.___.___.___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51867" y="734789"/>
            <a:ext cx="5616277" cy="1110035"/>
            <a:chOff x="107504" y="2348880"/>
            <a:chExt cx="5616277" cy="1110035"/>
          </a:xfrm>
        </p:grpSpPr>
        <p:grpSp>
          <p:nvGrpSpPr>
            <p:cNvPr id="48" name="Group 67"/>
            <p:cNvGrpSpPr>
              <a:grpSpLocks/>
            </p:cNvGrpSpPr>
            <p:nvPr/>
          </p:nvGrpSpPr>
          <p:grpSpPr bwMode="auto">
            <a:xfrm>
              <a:off x="2123729" y="2348880"/>
              <a:ext cx="1152525" cy="1079500"/>
              <a:chOff x="1111" y="1480"/>
              <a:chExt cx="726" cy="680"/>
            </a:xfrm>
          </p:grpSpPr>
          <p:pic>
            <p:nvPicPr>
              <p:cNvPr id="52" name="Picture 37"/>
              <p:cNvPicPr>
                <a:picLocks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1" y="1480"/>
                <a:ext cx="726" cy="6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3" name="Text Box 43"/>
              <p:cNvSpPr txBox="1">
                <a:spLocks noChangeArrowheads="1"/>
              </p:cNvSpPr>
              <p:nvPr/>
            </p:nvSpPr>
            <p:spPr bwMode="auto">
              <a:xfrm>
                <a:off x="1202" y="1562"/>
                <a:ext cx="49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en-US" sz="1400" dirty="0" smtClean="0"/>
                  <a:t>Firewall External </a:t>
                </a:r>
                <a:endParaRPr lang="en-US" altLang="en-US" sz="1400" dirty="0"/>
              </a:p>
            </p:txBody>
          </p:sp>
        </p:grpSp>
        <p:sp>
          <p:nvSpPr>
            <p:cNvPr id="49" name="TextBox 52"/>
            <p:cNvSpPr txBox="1">
              <a:spLocks noChangeArrowheads="1"/>
            </p:cNvSpPr>
            <p:nvPr/>
          </p:nvSpPr>
          <p:spPr bwMode="auto">
            <a:xfrm>
              <a:off x="107504" y="2996952"/>
              <a:ext cx="24479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/>
              <a:r>
                <a:rPr lang="en-CA" altLang="en-US" sz="1200" dirty="0" smtClean="0"/>
                <a:t>Bravo Interface</a:t>
              </a:r>
              <a:endParaRPr lang="en-CA" altLang="en-US" sz="1200" dirty="0"/>
            </a:p>
            <a:p>
              <a:pPr eaLnBrk="1" hangingPunct="1"/>
              <a:r>
                <a:rPr lang="en-CA" altLang="en-US" sz="1200" dirty="0"/>
                <a:t>IP: ________________ / ___</a:t>
              </a:r>
            </a:p>
          </p:txBody>
        </p:sp>
        <p:sp>
          <p:nvSpPr>
            <p:cNvPr id="50" name="TextBox 52"/>
            <p:cNvSpPr txBox="1">
              <a:spLocks noChangeArrowheads="1"/>
            </p:cNvSpPr>
            <p:nvPr/>
          </p:nvSpPr>
          <p:spPr bwMode="auto">
            <a:xfrm>
              <a:off x="3275856" y="2996952"/>
              <a:ext cx="24479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/>
              <a:r>
                <a:rPr lang="en-CA" altLang="en-US" sz="1200" dirty="0" smtClean="0"/>
                <a:t>External Interface</a:t>
              </a:r>
              <a:endParaRPr lang="en-CA" altLang="en-US" sz="1200" dirty="0"/>
            </a:p>
            <a:p>
              <a:pPr eaLnBrk="1" hangingPunct="1"/>
              <a:r>
                <a:rPr lang="en-CA" altLang="en-US" sz="1200" dirty="0"/>
                <a:t>IP: ________________ / ___</a:t>
              </a:r>
            </a:p>
          </p:txBody>
        </p:sp>
        <p:sp>
          <p:nvSpPr>
            <p:cNvPr id="51" name="TextBox 50"/>
            <p:cNvSpPr txBox="1">
              <a:spLocks noChangeArrowheads="1"/>
            </p:cNvSpPr>
            <p:nvPr/>
          </p:nvSpPr>
          <p:spPr bwMode="auto">
            <a:xfrm>
              <a:off x="3275856" y="2636912"/>
              <a:ext cx="1871662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algn="ctr" eaLnBrk="1" hangingPunct="1"/>
              <a:r>
                <a:rPr lang="en-CA" altLang="en-US" sz="1200" dirty="0"/>
                <a:t>Gateway: ___.___.___.___</a:t>
              </a:r>
            </a:p>
          </p:txBody>
        </p:sp>
      </p:grpSp>
      <p:grpSp>
        <p:nvGrpSpPr>
          <p:cNvPr id="54" name="Group 69"/>
          <p:cNvGrpSpPr>
            <a:grpSpLocks/>
          </p:cNvGrpSpPr>
          <p:nvPr/>
        </p:nvGrpSpPr>
        <p:grpSpPr bwMode="auto">
          <a:xfrm>
            <a:off x="2485206" y="4581128"/>
            <a:ext cx="1438275" cy="735013"/>
            <a:chOff x="386" y="1569"/>
            <a:chExt cx="906" cy="463"/>
          </a:xfrm>
        </p:grpSpPr>
        <p:sp>
          <p:nvSpPr>
            <p:cNvPr id="55" name="Text Box 26"/>
            <p:cNvSpPr txBox="1">
              <a:spLocks noChangeArrowheads="1"/>
            </p:cNvSpPr>
            <p:nvPr/>
          </p:nvSpPr>
          <p:spPr bwMode="auto">
            <a:xfrm>
              <a:off x="657" y="1569"/>
              <a:ext cx="635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 bIns="1080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 dirty="0"/>
                <a:t>Internal Virtual Switch</a:t>
              </a:r>
            </a:p>
          </p:txBody>
        </p:sp>
        <p:pic>
          <p:nvPicPr>
            <p:cNvPr id="56" name="Picture 4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253" y="1702"/>
              <a:ext cx="46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7" name="Line 46"/>
          <p:cNvSpPr>
            <a:spLocks noChangeShapeType="1"/>
          </p:cNvSpPr>
          <p:nvPr/>
        </p:nvSpPr>
        <p:spPr bwMode="auto">
          <a:xfrm flipV="1">
            <a:off x="2629222" y="5301208"/>
            <a:ext cx="0" cy="4320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58" name="Line 46"/>
          <p:cNvSpPr>
            <a:spLocks noChangeShapeType="1"/>
          </p:cNvSpPr>
          <p:nvPr/>
        </p:nvSpPr>
        <p:spPr bwMode="auto">
          <a:xfrm flipV="1">
            <a:off x="2629222" y="4221088"/>
            <a:ext cx="0" cy="4320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grpSp>
        <p:nvGrpSpPr>
          <p:cNvPr id="59" name="Group 69"/>
          <p:cNvGrpSpPr>
            <a:grpSpLocks/>
          </p:cNvGrpSpPr>
          <p:nvPr/>
        </p:nvGrpSpPr>
        <p:grpSpPr bwMode="auto">
          <a:xfrm>
            <a:off x="2555776" y="2132856"/>
            <a:ext cx="1582738" cy="735013"/>
            <a:chOff x="386" y="1569"/>
            <a:chExt cx="997" cy="463"/>
          </a:xfrm>
        </p:grpSpPr>
        <p:sp>
          <p:nvSpPr>
            <p:cNvPr id="60" name="Text Box 26"/>
            <p:cNvSpPr txBox="1">
              <a:spLocks noChangeArrowheads="1"/>
            </p:cNvSpPr>
            <p:nvPr/>
          </p:nvSpPr>
          <p:spPr bwMode="auto">
            <a:xfrm>
              <a:off x="748" y="1570"/>
              <a:ext cx="635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10800" bIns="1080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400" dirty="0"/>
                <a:t>Internal Virtual Switch</a:t>
              </a:r>
            </a:p>
          </p:txBody>
        </p:sp>
        <p:pic>
          <p:nvPicPr>
            <p:cNvPr id="61" name="Picture 4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253" y="1702"/>
              <a:ext cx="463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2" name="Line 46"/>
          <p:cNvSpPr>
            <a:spLocks noChangeShapeType="1"/>
          </p:cNvSpPr>
          <p:nvPr/>
        </p:nvSpPr>
        <p:spPr bwMode="auto">
          <a:xfrm flipV="1">
            <a:off x="2699792" y="2852936"/>
            <a:ext cx="0" cy="4320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63" name="Line 46"/>
          <p:cNvSpPr>
            <a:spLocks noChangeShapeType="1"/>
          </p:cNvSpPr>
          <p:nvPr/>
        </p:nvSpPr>
        <p:spPr bwMode="auto">
          <a:xfrm flipV="1">
            <a:off x="2699792" y="1772816"/>
            <a:ext cx="0" cy="4320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64" name="Line 46"/>
          <p:cNvSpPr>
            <a:spLocks noChangeShapeType="1"/>
          </p:cNvSpPr>
          <p:nvPr/>
        </p:nvSpPr>
        <p:spPr bwMode="auto">
          <a:xfrm flipH="1" flipV="1">
            <a:off x="3131840" y="1772816"/>
            <a:ext cx="3312368" cy="115212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65" name="Text Box 26"/>
          <p:cNvSpPr txBox="1">
            <a:spLocks noChangeArrowheads="1"/>
          </p:cNvSpPr>
          <p:nvPr/>
        </p:nvSpPr>
        <p:spPr bwMode="auto">
          <a:xfrm>
            <a:off x="755576" y="4725144"/>
            <a:ext cx="1296144" cy="775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0800" bIns="10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 smtClean="0"/>
              <a:t>Private Subnet (Alfa)</a:t>
            </a:r>
            <a:endParaRPr lang="en-US" altLang="en-US" sz="1400" dirty="0"/>
          </a:p>
          <a:p>
            <a:pPr eaLnBrk="1" hangingPunct="1">
              <a:spcBef>
                <a:spcPct val="50000"/>
              </a:spcBef>
            </a:pPr>
            <a:r>
              <a:rPr lang="en-US" altLang="en-US" sz="1400" dirty="0" smtClean="0"/>
              <a:t>10.30.x.128/25</a:t>
            </a:r>
            <a:endParaRPr lang="en-US" altLang="en-US" sz="1400" dirty="0"/>
          </a:p>
        </p:txBody>
      </p:sp>
      <p:sp>
        <p:nvSpPr>
          <p:cNvPr id="66" name="Text Box 26"/>
          <p:cNvSpPr txBox="1">
            <a:spLocks noChangeArrowheads="1"/>
          </p:cNvSpPr>
          <p:nvPr/>
        </p:nvSpPr>
        <p:spPr bwMode="auto">
          <a:xfrm>
            <a:off x="827584" y="2348880"/>
            <a:ext cx="1296144" cy="775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0800" bIns="10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dirty="0" smtClean="0"/>
              <a:t>Team Subnet (Bravo)</a:t>
            </a:r>
            <a:endParaRPr lang="en-US" altLang="en-US" sz="1400" dirty="0"/>
          </a:p>
          <a:p>
            <a:pPr eaLnBrk="1" hangingPunct="1">
              <a:spcBef>
                <a:spcPct val="50000"/>
              </a:spcBef>
            </a:pPr>
            <a:r>
              <a:rPr lang="en-US" altLang="en-US" sz="1400" dirty="0" smtClean="0"/>
              <a:t>10.30.x.0/25</a:t>
            </a:r>
            <a:endParaRPr lang="en-US" alt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85</Words>
  <Application>Microsoft Macintosh PowerPoint</Application>
  <PresentationFormat>On-screen Show (4:3)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Times New Roman</vt:lpstr>
      <vt:lpstr>Default Design</vt:lpstr>
      <vt:lpstr>PowerPoint Presentation</vt:lpstr>
    </vt:vector>
  </TitlesOfParts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Scott Knight</dc:creator>
  <cp:lastModifiedBy>Jeremy Paquet</cp:lastModifiedBy>
  <cp:revision>33</cp:revision>
  <dcterms:created xsi:type="dcterms:W3CDTF">2005-11-18T15:15:19Z</dcterms:created>
  <dcterms:modified xsi:type="dcterms:W3CDTF">2018-02-09T18:37:50Z</dcterms:modified>
</cp:coreProperties>
</file>