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5"/>
  </p:notesMasterIdLst>
  <p:sldIdLst>
    <p:sldId id="256" r:id="rId2"/>
    <p:sldId id="271" r:id="rId3"/>
    <p:sldId id="32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8" r:id="rId20"/>
    <p:sldId id="287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96" r:id="rId29"/>
    <p:sldId id="319" r:id="rId30"/>
    <p:sldId id="297" r:id="rId31"/>
    <p:sldId id="298" r:id="rId32"/>
    <p:sldId id="299" r:id="rId33"/>
    <p:sldId id="320" r:id="rId34"/>
    <p:sldId id="300" r:id="rId35"/>
    <p:sldId id="301" r:id="rId36"/>
    <p:sldId id="302" r:id="rId37"/>
    <p:sldId id="303" r:id="rId38"/>
    <p:sldId id="304" r:id="rId39"/>
    <p:sldId id="305" r:id="rId40"/>
    <p:sldId id="306" r:id="rId41"/>
    <p:sldId id="307" r:id="rId42"/>
    <p:sldId id="308" r:id="rId43"/>
    <p:sldId id="309" r:id="rId44"/>
    <p:sldId id="310" r:id="rId45"/>
    <p:sldId id="311" r:id="rId46"/>
    <p:sldId id="312" r:id="rId47"/>
    <p:sldId id="313" r:id="rId48"/>
    <p:sldId id="314" r:id="rId49"/>
    <p:sldId id="315" r:id="rId50"/>
    <p:sldId id="316" r:id="rId51"/>
    <p:sldId id="317" r:id="rId52"/>
    <p:sldId id="318" r:id="rId53"/>
    <p:sldId id="270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3C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328"/>
    <p:restoredTop sz="94618"/>
  </p:normalViewPr>
  <p:slideViewPr>
    <p:cSldViewPr snapToGrid="0">
      <p:cViewPr varScale="1">
        <p:scale>
          <a:sx n="77" d="100"/>
          <a:sy n="77" d="100"/>
        </p:scale>
        <p:origin x="208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FD2053-4740-4E01-90C6-2A765698BBBB}" type="datetimeFigureOut">
              <a:rPr lang="en-CA" smtClean="0"/>
              <a:t>2024-01-12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4476C-EC37-4685-BB9F-936CE9DFF5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4990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34476C-EC37-4685-BB9F-936CE9DFF5EE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8675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56800-3811-4771-8627-C2A99BAD51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D0586-4157-43CE-850A-2AEFD6641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5E1EF-A5B5-4FBE-875E-16F4B58D9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Prof. El Mezouar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90FDE-C91A-4427-983D-0C02447A3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1E2D-3197-4330-A5C4-B1D41F8943DF}" type="slidenum">
              <a:rPr lang="en-CA" smtClean="0"/>
              <a:t>‹#›</a:t>
            </a:fld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D8B502-3A4D-4700-B57A-504E693840E3}"/>
              </a:ext>
            </a:extLst>
          </p:cNvPr>
          <p:cNvSpPr txBox="1"/>
          <p:nvPr userDrawn="1"/>
        </p:nvSpPr>
        <p:spPr>
          <a:xfrm>
            <a:off x="4222680" y="4396809"/>
            <a:ext cx="774264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i="0" dirty="0">
                <a:effectLst/>
                <a:latin typeface="+mj-lt"/>
              </a:rPr>
              <a:t>CSE 341</a:t>
            </a:r>
            <a:br>
              <a:rPr lang="en-US" sz="2800" b="0" i="0" dirty="0">
                <a:effectLst/>
                <a:latin typeface="+mj-lt"/>
              </a:rPr>
            </a:br>
            <a:r>
              <a:rPr lang="en-US" sz="2800" b="0" i="0" dirty="0">
                <a:effectLst/>
                <a:latin typeface="+mj-lt"/>
              </a:rPr>
              <a:t>Introduction to Database Systems </a:t>
            </a:r>
            <a:br>
              <a:rPr lang="en-US" sz="2800" b="0" i="0" dirty="0">
                <a:effectLst/>
                <a:latin typeface="+mj-lt"/>
              </a:rPr>
            </a:br>
            <a:r>
              <a:rPr lang="en-US" sz="2800" b="0" i="0" dirty="0">
                <a:effectLst/>
                <a:latin typeface="+mj-lt"/>
              </a:rPr>
              <a:t>Winter 2024</a:t>
            </a:r>
            <a:br>
              <a:rPr lang="en-US" sz="2800" b="0" i="0" dirty="0">
                <a:effectLst/>
                <a:latin typeface="+mj-lt"/>
              </a:rPr>
            </a:br>
            <a:r>
              <a:rPr lang="en-US" sz="2800" b="0" i="0" dirty="0">
                <a:effectLst/>
                <a:latin typeface="+mj-lt"/>
              </a:rPr>
              <a:t>© </a:t>
            </a:r>
            <a:r>
              <a:rPr lang="en-CA" sz="2800" b="0" i="0" dirty="0">
                <a:effectLst/>
                <a:latin typeface="+mj-lt"/>
              </a:rPr>
              <a:t>Royal Military College of Canada</a:t>
            </a:r>
            <a:endParaRPr lang="en-CA" sz="2800" dirty="0">
              <a:latin typeface="+mj-lt"/>
            </a:endParaRPr>
          </a:p>
          <a:p>
            <a:pPr algn="r"/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971457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579DF-2D12-4F96-BBFA-20996E04E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4733"/>
            <a:ext cx="10515600" cy="97260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1B3F5-3E12-4193-8D82-B754F8D0B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2767"/>
            <a:ext cx="10515600" cy="48180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A1D7C-99EE-4A79-9A11-EA59F3B39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34839-1CE4-4DD4-BFBD-C4BE8E950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42173-2EF8-47F1-8082-6A33B74DE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6B2D38-371C-44E4-9996-48BC4E19D9BD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25955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9E0A8-78AC-44D2-B172-01B5ABF83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755667-FA54-4F9A-8C53-B970DC8E3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08C1E-5E5C-444B-ACC4-9EC133F2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3661F-0649-4425-B815-165D0BEC9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Prof. El Mezouar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1615D-C64C-478F-9DAE-F69D903EE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1E2D-3197-4330-A5C4-B1D41F8943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01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D8029-58B8-4FE7-B412-1E3534B2C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84410-654B-4202-9BFA-6DF31EE2FA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191261-0E1B-46D0-9F78-7AD46FE65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0A0DAF-8463-40A0-AA29-5142CEB6C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69AF1-BE34-404C-9E33-CFA37B5CE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Prof. El Mezouar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3E3AA-DAD9-4E6A-97A4-64DA1ED72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1E2D-3197-4330-A5C4-B1D41F8943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2937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484A6-3C08-4D73-9601-F19984E5F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182D0-9CFC-447C-91DF-03121D8D0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21040E-4030-4139-8F7D-C3A627DC01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1FEFED-4007-4480-88DF-2FEBDDE020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2BD7E2-C836-4BA7-BFBB-BA7148B50C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D0A1B7-7773-4976-B693-EB45522D9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CE6D6E-EAF1-42E3-A3E6-A9B6D46CF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Prof. El Mezouar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EE5D73-484C-4F0C-B19E-AB8E0A294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1E2D-3197-4330-A5C4-B1D41F8943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2010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9F8B-980B-4952-9383-2B4DD3711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AB44FB-813B-4E2C-A429-D1D80FAE7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269B2-F71F-44AC-A882-9BDBEA6D5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Prof. El Mezouar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14EA45-4682-4B94-A7D4-04DF9261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1E2D-3197-4330-A5C4-B1D41F8943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4682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636DF3-90C4-457D-B99E-F2B0E5F29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46A05F-10D0-483C-ACA1-6A7CEF3C4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Prof. El Mezouar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CA6A2-23C8-4379-B3A9-626AFB106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1E2D-3197-4330-A5C4-B1D41F8943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4184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BD462-6FE2-40ED-9113-3CD4012DC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6D344-4358-40D7-94A1-B9EC0AD56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C4BCA-65FD-4538-A1DF-5C5FEB939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306BA1-4703-43C8-89E1-C6F9DEBC9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1CF4B-5D1C-496B-8B71-6D187E881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Prof. El Mezouar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45EB1-F98B-4BBC-B4A4-FD1DA0089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1E2D-3197-4330-A5C4-B1D41F8943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9151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02618-B5AD-41C8-9BC7-25B188DBD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53312F-690E-450A-8FBE-31DEB1619F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4FCFEC-7E7F-4DA8-A457-3BC18C28D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81842-AC61-4964-A2FA-8B8F61931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D08B8D-03A0-4730-AABF-FE39EEE37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Prof. El Mezouar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0A662-53E3-492F-A267-1CB531C0D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1E2D-3197-4330-A5C4-B1D41F8943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9697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11424-19A1-497A-B95A-D853F8CB5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FC9D48-205D-4DEC-9C4C-96BA8492F7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B0D8E-5C3C-44EA-A105-391A3285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7C4B0-7775-4C81-9931-9CCF1CFA7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Prof. El Mezouar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5B608-4D2D-44A6-B300-98FF447CC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1E2D-3197-4330-A5C4-B1D41F8943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7276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147BD9-B710-4623-B06C-95C615E381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BF8F43-306B-412B-96B5-84388949DC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5DAB5-0360-4956-B05C-E6043E1EE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BCB43-CF66-4DCF-89EA-ABAC64643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Prof. El Mezouar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4CB68-20D7-4A36-844C-05CF30F06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E1E2D-3197-4330-A5C4-B1D41F8943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1100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D9F872-DFF3-402B-9FFD-F3B9ECD8A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FADF2-D3CB-4112-BDF1-A1DCFF9C5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2288D-4A00-431C-A8AD-FFBAE52299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D71AA-5D46-47EF-A5DB-C96B15ABF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0EF58-93D7-4740-8D3F-70EA79559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E1E2D-3197-4330-A5C4-B1D41F8943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1237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06916-9312-42D4-9871-F7DB68DBB1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Entity Relationship Modeling</a:t>
            </a:r>
          </a:p>
        </p:txBody>
      </p:sp>
    </p:spTree>
    <p:extLst>
      <p:ext uri="{BB962C8B-B14F-4D97-AF65-F5344CB8AC3E}">
        <p14:creationId xmlns:p14="http://schemas.microsoft.com/office/powerpoint/2010/main" val="2620419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CA" dirty="0"/>
          </a:p>
          <a:p>
            <a:r>
              <a:rPr lang="en-CA" dirty="0"/>
              <a:t>Basic concepts associated with ER model. </a:t>
            </a:r>
          </a:p>
          <a:p>
            <a:endParaRPr lang="en-CA" dirty="0"/>
          </a:p>
          <a:p>
            <a:r>
              <a:rPr lang="en-CA" dirty="0"/>
              <a:t>Diagrammatic technique for displaying ER model using Unified Modeling Language (UML).</a:t>
            </a:r>
          </a:p>
          <a:p>
            <a:endParaRPr lang="en-CA" dirty="0"/>
          </a:p>
          <a:p>
            <a:r>
              <a:rPr lang="en-CA" dirty="0"/>
              <a:t>How to identify and resolve problems with ER models called connection traps. </a:t>
            </a:r>
          </a:p>
          <a:p>
            <a:endParaRPr lang="en-C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03051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FE310-BFD2-3E6E-CDB7-2DBA1A90D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i="1" dirty="0" err="1"/>
              <a:t>DreamHome</a:t>
            </a:r>
            <a:r>
              <a:rPr lang="en-US" dirty="0"/>
              <a:t> case study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3FD29-0C70-9536-0ABD-2AFFA2C24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err="1"/>
              <a:t>DreamHome</a:t>
            </a:r>
            <a:r>
              <a:rPr lang="en-US" dirty="0"/>
              <a:t> specializes in property management, taking an intermediate role between owners who wish to rent out their furnished property and clients of </a:t>
            </a:r>
            <a:r>
              <a:rPr lang="en-US" i="1" dirty="0" err="1"/>
              <a:t>DreamHome</a:t>
            </a:r>
            <a:r>
              <a:rPr lang="en-US" dirty="0"/>
              <a:t> who require to rent furnished property for a fixed period.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More details can be found in Section 11.4 or Appendix A of the Connelly textbook.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AF493-7068-031F-E127-06A1F36A0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8CF9D-52DF-AD9B-043C-DC85C8371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2A8A4-A538-4F72-7E2D-90453FE7C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3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54199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ER diagram of Branch user views of </a:t>
            </a:r>
            <a:r>
              <a:rPr lang="en-CA" i="1" dirty="0" err="1"/>
              <a:t>DreamHome</a:t>
            </a:r>
            <a:endParaRPr lang="en-CA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4</a:t>
            </a:fld>
            <a:endParaRPr lang="en-CA" dirty="0"/>
          </a:p>
        </p:txBody>
      </p:sp>
      <p:pic>
        <p:nvPicPr>
          <p:cNvPr id="7" name="Picture 8" descr="DS3-Figure 11-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530" y="1279994"/>
            <a:ext cx="6430381" cy="5342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0980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Concepts of the ER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Entity types</a:t>
            </a:r>
          </a:p>
          <a:p>
            <a:endParaRPr lang="en-CA" dirty="0"/>
          </a:p>
          <a:p>
            <a:r>
              <a:rPr lang="en-CA" dirty="0"/>
              <a:t>Relationship types </a:t>
            </a:r>
          </a:p>
          <a:p>
            <a:endParaRPr lang="en-CA" dirty="0"/>
          </a:p>
          <a:p>
            <a:r>
              <a:rPr lang="en-CA" dirty="0"/>
              <a:t>Attributes</a:t>
            </a:r>
          </a:p>
          <a:p>
            <a:endParaRPr lang="en-C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5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66335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Entity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sz="3200" dirty="0">
                <a:latin typeface="+mj-lt"/>
              </a:rPr>
              <a:t>Entity type</a:t>
            </a:r>
          </a:p>
          <a:p>
            <a:pPr lvl="1"/>
            <a:r>
              <a:rPr lang="en-AU" altLang="en-US" sz="2800" dirty="0">
                <a:latin typeface="+mj-lt"/>
                <a:cs typeface="Times New Roman" panose="02020603050405020304" pitchFamily="18" charset="0"/>
              </a:rPr>
              <a:t>Group of objects with same properties,  identified by enterprise as having an independent existence.</a:t>
            </a:r>
            <a:r>
              <a:rPr lang="en-GB" altLang="en-US" sz="2800" dirty="0">
                <a:latin typeface="+mj-lt"/>
              </a:rPr>
              <a:t> </a:t>
            </a:r>
          </a:p>
          <a:p>
            <a:pPr lvl="1">
              <a:buFontTx/>
              <a:buNone/>
            </a:pPr>
            <a:endParaRPr lang="en-GB" altLang="en-US" sz="2800" dirty="0">
              <a:latin typeface="+mj-lt"/>
            </a:endParaRPr>
          </a:p>
          <a:p>
            <a:r>
              <a:rPr lang="en-GB" altLang="en-US" sz="3200" dirty="0">
                <a:latin typeface="+mj-lt"/>
              </a:rPr>
              <a:t>Entity occurrence</a:t>
            </a:r>
          </a:p>
          <a:p>
            <a:pPr lvl="1"/>
            <a:r>
              <a:rPr lang="en-AU" altLang="en-US" sz="2800" dirty="0">
                <a:latin typeface="+mj-lt"/>
                <a:cs typeface="Times New Roman" panose="02020603050405020304" pitchFamily="18" charset="0"/>
              </a:rPr>
              <a:t>Uniquely identifiable object of an entity type.</a:t>
            </a:r>
            <a:r>
              <a:rPr lang="en-GB" altLang="en-US" sz="2800" dirty="0">
                <a:latin typeface="+mj-lt"/>
              </a:rPr>
              <a:t> </a:t>
            </a:r>
          </a:p>
          <a:p>
            <a:endParaRPr lang="en-CA" dirty="0">
              <a:latin typeface="+mj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6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58288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Examples of Entity Types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7</a:t>
            </a:fld>
            <a:endParaRPr lang="en-CA" dirty="0"/>
          </a:p>
        </p:txBody>
      </p:sp>
      <p:pic>
        <p:nvPicPr>
          <p:cNvPr id="7" name="Picture 6" descr="DS3-Figure 11-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302" y="1282931"/>
            <a:ext cx="4842164" cy="4244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263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ER diagram of Staff and Branch entity types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8</a:t>
            </a:fld>
            <a:endParaRPr lang="en-CA" dirty="0"/>
          </a:p>
        </p:txBody>
      </p:sp>
      <p:pic>
        <p:nvPicPr>
          <p:cNvPr id="7" name="Picture 8" descr="DS3-Figure 11-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2636" y="1878676"/>
            <a:ext cx="5795677" cy="3337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9263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Relationship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sz="3200" dirty="0">
                <a:latin typeface="+mj-lt"/>
              </a:rPr>
              <a:t>Relationship type</a:t>
            </a:r>
          </a:p>
          <a:p>
            <a:pPr lvl="1"/>
            <a:r>
              <a:rPr lang="en-AU" altLang="en-US" sz="2800" dirty="0">
                <a:latin typeface="+mj-lt"/>
                <a:cs typeface="Times New Roman" panose="02020603050405020304" pitchFamily="18" charset="0"/>
              </a:rPr>
              <a:t>Set of meaningful associations among entity types.</a:t>
            </a:r>
            <a:r>
              <a:rPr lang="en-GB" altLang="en-US" sz="2800" dirty="0">
                <a:latin typeface="+mj-lt"/>
              </a:rPr>
              <a:t> </a:t>
            </a:r>
          </a:p>
          <a:p>
            <a:pPr lvl="1"/>
            <a:endParaRPr lang="en-GB" altLang="en-US" sz="2800" dirty="0">
              <a:latin typeface="+mj-lt"/>
            </a:endParaRPr>
          </a:p>
          <a:p>
            <a:r>
              <a:rPr lang="en-GB" altLang="en-US" sz="3200" dirty="0">
                <a:latin typeface="+mj-lt"/>
              </a:rPr>
              <a:t>Relationship occurrence</a:t>
            </a:r>
          </a:p>
          <a:p>
            <a:pPr lvl="1"/>
            <a:r>
              <a:rPr lang="en-AU" altLang="en-US" sz="2800" dirty="0">
                <a:latin typeface="+mj-lt"/>
                <a:cs typeface="Times New Roman" panose="02020603050405020304" pitchFamily="18" charset="0"/>
              </a:rPr>
              <a:t>Uniquely identifiable association, which includes one occurrence from each participating entity type.</a:t>
            </a:r>
            <a:r>
              <a:rPr lang="en-GB" altLang="en-US" sz="2800" dirty="0">
                <a:latin typeface="+mj-lt"/>
              </a:rPr>
              <a:t> </a:t>
            </a:r>
          </a:p>
          <a:p>
            <a:endParaRPr lang="en-C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9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71313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Semantic net of </a:t>
            </a:r>
            <a:r>
              <a:rPr lang="en-CA" i="1" dirty="0"/>
              <a:t>Has</a:t>
            </a:r>
            <a:r>
              <a:rPr lang="en-CA" dirty="0"/>
              <a:t> relationship type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10</a:t>
            </a:fld>
            <a:endParaRPr lang="en-CA" dirty="0"/>
          </a:p>
        </p:txBody>
      </p:sp>
      <p:pic>
        <p:nvPicPr>
          <p:cNvPr id="7" name="Picture 1029" descr="DS3-Figure 11-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7345" y="1458884"/>
            <a:ext cx="73152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0547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ER diagram of Branch </a:t>
            </a:r>
            <a:r>
              <a:rPr lang="en-CA" i="1" dirty="0"/>
              <a:t>Has</a:t>
            </a:r>
            <a:r>
              <a:rPr lang="en-CA" dirty="0"/>
              <a:t> Staff relationship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11</a:t>
            </a:fld>
            <a:endParaRPr lang="en-CA" dirty="0"/>
          </a:p>
        </p:txBody>
      </p:sp>
      <p:pic>
        <p:nvPicPr>
          <p:cNvPr id="7" name="Picture 6" descr="DS3-Figure 11-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018" y="1799707"/>
            <a:ext cx="6553200" cy="3604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8267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Relationship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sz="3200" dirty="0">
                <a:latin typeface="+mj-lt"/>
              </a:rPr>
              <a:t>Degree of a Relationship</a:t>
            </a:r>
          </a:p>
          <a:p>
            <a:pPr lvl="1"/>
            <a:r>
              <a:rPr lang="en-GB" altLang="en-US" sz="2800" dirty="0">
                <a:latin typeface="+mj-lt"/>
              </a:rPr>
              <a:t>Number of participating entities in  relationship.</a:t>
            </a:r>
          </a:p>
          <a:p>
            <a:pPr lvl="1">
              <a:lnSpc>
                <a:spcPct val="50000"/>
              </a:lnSpc>
            </a:pPr>
            <a:endParaRPr lang="en-GB" altLang="en-US" sz="2800" dirty="0">
              <a:latin typeface="+mj-lt"/>
            </a:endParaRPr>
          </a:p>
          <a:p>
            <a:r>
              <a:rPr lang="en-AU" altLang="en-US" sz="3200" dirty="0">
                <a:latin typeface="+mj-lt"/>
                <a:cs typeface="Times New Roman" panose="02020603050405020304" pitchFamily="18" charset="0"/>
              </a:rPr>
              <a:t>Relationship of degree :</a:t>
            </a:r>
          </a:p>
          <a:p>
            <a:pPr lvl="1"/>
            <a:r>
              <a:rPr lang="en-AU" altLang="en-US" sz="2800" dirty="0">
                <a:latin typeface="+mj-lt"/>
                <a:cs typeface="Times New Roman" panose="02020603050405020304" pitchFamily="18" charset="0"/>
              </a:rPr>
              <a:t>two is binary </a:t>
            </a:r>
          </a:p>
          <a:p>
            <a:pPr lvl="1"/>
            <a:r>
              <a:rPr lang="en-AU" altLang="en-US" sz="2800" dirty="0">
                <a:latin typeface="+mj-lt"/>
                <a:cs typeface="Times New Roman" panose="02020603050405020304" pitchFamily="18" charset="0"/>
              </a:rPr>
              <a:t>three is ternary</a:t>
            </a:r>
          </a:p>
          <a:p>
            <a:pPr lvl="1"/>
            <a:r>
              <a:rPr lang="en-AU" altLang="en-US" sz="2800" dirty="0">
                <a:latin typeface="+mj-lt"/>
                <a:cs typeface="Times New Roman" panose="02020603050405020304" pitchFamily="18" charset="0"/>
              </a:rPr>
              <a:t>four is quaternary.</a:t>
            </a:r>
            <a:endParaRPr lang="en-GB" altLang="en-US" sz="2800" dirty="0">
              <a:latin typeface="+mj-lt"/>
              <a:cs typeface="Times New Roman" panose="02020603050405020304" pitchFamily="18" charset="0"/>
            </a:endParaRPr>
          </a:p>
          <a:p>
            <a:endParaRPr lang="en-C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12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85241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cs typeface="Times New Roman" pitchFamily="18" charset="0"/>
              </a:rPr>
              <a:t>Binary relationship called </a:t>
            </a:r>
            <a:r>
              <a:rPr lang="en-AU" i="1" dirty="0" err="1">
                <a:cs typeface="Times New Roman" pitchFamily="18" charset="0"/>
              </a:rPr>
              <a:t>POwns</a:t>
            </a:r>
            <a:endParaRPr lang="en-CA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13</a:t>
            </a:fld>
            <a:endParaRPr lang="en-CA" dirty="0"/>
          </a:p>
        </p:txBody>
      </p:sp>
      <p:pic>
        <p:nvPicPr>
          <p:cNvPr id="7" name="Picture 5" descr="DS3-Figure 11-06">
            <a:extLst>
              <a:ext uri="{FF2B5EF4-FFF2-40B4-BE49-F238E27FC236}">
                <a16:creationId xmlns:a16="http://schemas.microsoft.com/office/drawing/2014/main" id="{0D724B35-B2E8-34AF-B3B0-D3BF67BA0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695" y="2459369"/>
            <a:ext cx="8928610" cy="193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8415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05A8D-6CB0-EA6D-BCF5-D6E93FB18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Gill Sans MT" panose="020B0502020104020203" pitchFamily="34" charset="77"/>
                <a:cs typeface="Times New Roman" pitchFamily="18" charset="0"/>
              </a:rPr>
              <a:t>Ternary relationship called </a:t>
            </a:r>
            <a:r>
              <a:rPr lang="en-AU" i="1" dirty="0">
                <a:latin typeface="Gill Sans MT" panose="020B0502020104020203" pitchFamily="34" charset="77"/>
                <a:cs typeface="Arial" charset="0"/>
              </a:rPr>
              <a:t>Registers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72A62-E3B6-E9BD-2962-24372AA40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D0FB9-D346-1063-41E3-782C796ED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19262-A40F-B02C-D6D4-1B4B9CCC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14</a:t>
            </a:fld>
            <a:endParaRPr lang="en-CA" dirty="0"/>
          </a:p>
        </p:txBody>
      </p:sp>
      <p:pic>
        <p:nvPicPr>
          <p:cNvPr id="7" name="Picture 5" descr="DS3-Figure 11-07">
            <a:extLst>
              <a:ext uri="{FF2B5EF4-FFF2-40B4-BE49-F238E27FC236}">
                <a16:creationId xmlns:a16="http://schemas.microsoft.com/office/drawing/2014/main" id="{6D7165A6-E640-3DFB-C929-56401998B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651" y="1921626"/>
            <a:ext cx="9566698" cy="3465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2004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1589A-E882-4E1D-D615-9113526D6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Gill Sans MT" panose="020B0502020104020203" pitchFamily="34" charset="77"/>
                <a:cs typeface="Times New Roman" pitchFamily="18" charset="0"/>
              </a:rPr>
              <a:t>Quaternary relationship called </a:t>
            </a:r>
            <a:r>
              <a:rPr lang="en-AU" i="1" dirty="0">
                <a:latin typeface="Gill Sans MT" panose="020B0502020104020203" pitchFamily="34" charset="77"/>
                <a:cs typeface="Arial" charset="0"/>
              </a:rPr>
              <a:t>Arranges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824CC-1B71-B5EA-24CD-50B7DF990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C5A28-23DB-FB4B-7666-BB7182EF4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B5681-569B-A023-4228-1FC651F8E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15</a:t>
            </a:fld>
            <a:endParaRPr lang="en-CA" dirty="0"/>
          </a:p>
        </p:txBody>
      </p:sp>
      <p:pic>
        <p:nvPicPr>
          <p:cNvPr id="7" name="Picture 5" descr="DS3-Figure 11-08">
            <a:extLst>
              <a:ext uri="{FF2B5EF4-FFF2-40B4-BE49-F238E27FC236}">
                <a16:creationId xmlns:a16="http://schemas.microsoft.com/office/drawing/2014/main" id="{A1D2DCC0-4E0F-A911-75FF-03F00F009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9458" y="1503217"/>
            <a:ext cx="8832816" cy="4432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3173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8CF2A-CBED-7E36-4E3E-D71C411B0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ill Sans MT" panose="020B0502020104020203" pitchFamily="34" charset="77"/>
              </a:rPr>
              <a:t>Relationship Types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E6E3C-FE5B-7EFB-7B22-9E173312A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en-US" sz="3200" dirty="0">
                <a:latin typeface="Gill Sans MT" panose="020B0502020104020203" pitchFamily="34" charset="77"/>
              </a:rPr>
              <a:t>Recursive Relationship</a:t>
            </a:r>
          </a:p>
          <a:p>
            <a:pPr lvl="1"/>
            <a:r>
              <a:rPr lang="en-AU" altLang="en-US" sz="2800" dirty="0">
                <a:latin typeface="Gill Sans MT" panose="020B0502020104020203" pitchFamily="34" charset="77"/>
                <a:cs typeface="Times New Roman" panose="02020603050405020304" pitchFamily="18" charset="0"/>
              </a:rPr>
              <a:t>Relationship type where </a:t>
            </a:r>
            <a:r>
              <a:rPr lang="en-AU" altLang="en-US" sz="2800" i="1" dirty="0">
                <a:latin typeface="Gill Sans MT" panose="020B0502020104020203" pitchFamily="34" charset="77"/>
                <a:cs typeface="Times New Roman" panose="02020603050405020304" pitchFamily="18" charset="0"/>
              </a:rPr>
              <a:t>same</a:t>
            </a:r>
            <a:r>
              <a:rPr lang="en-AU" altLang="en-US" sz="2800" dirty="0">
                <a:latin typeface="Gill Sans MT" panose="020B0502020104020203" pitchFamily="34" charset="77"/>
                <a:cs typeface="Times New Roman" panose="02020603050405020304" pitchFamily="18" charset="0"/>
              </a:rPr>
              <a:t> entity type participates more than once in </a:t>
            </a:r>
            <a:r>
              <a:rPr lang="en-AU" altLang="en-US" sz="2800" i="1" dirty="0">
                <a:latin typeface="Gill Sans MT" panose="020B0502020104020203" pitchFamily="34" charset="77"/>
                <a:cs typeface="Times New Roman" panose="02020603050405020304" pitchFamily="18" charset="0"/>
              </a:rPr>
              <a:t>different roles</a:t>
            </a:r>
            <a:r>
              <a:rPr lang="en-AU" altLang="en-US" sz="2800" dirty="0">
                <a:latin typeface="Gill Sans MT" panose="020B0502020104020203" pitchFamily="34" charset="77"/>
                <a:cs typeface="Times New Roman" panose="02020603050405020304" pitchFamily="18" charset="0"/>
              </a:rPr>
              <a:t>.</a:t>
            </a:r>
            <a:r>
              <a:rPr lang="en-GB" altLang="en-US" sz="2800" dirty="0">
                <a:latin typeface="Gill Sans MT" panose="020B0502020104020203" pitchFamily="34" charset="77"/>
              </a:rPr>
              <a:t> </a:t>
            </a:r>
          </a:p>
          <a:p>
            <a:pPr lvl="1">
              <a:lnSpc>
                <a:spcPct val="40000"/>
              </a:lnSpc>
            </a:pPr>
            <a:endParaRPr lang="en-GB" altLang="en-US" sz="2800" dirty="0">
              <a:latin typeface="Gill Sans MT" panose="020B0502020104020203" pitchFamily="34" charset="77"/>
            </a:endParaRPr>
          </a:p>
          <a:p>
            <a:r>
              <a:rPr lang="en-AU" altLang="en-US" sz="3200" dirty="0">
                <a:latin typeface="Gill Sans MT" panose="020B0502020104020203" pitchFamily="34" charset="77"/>
                <a:cs typeface="Times New Roman" panose="02020603050405020304" pitchFamily="18" charset="0"/>
              </a:rPr>
              <a:t>Relationships may be given role names to indicate purpose that each participating entity type plays in a relationship.</a:t>
            </a:r>
            <a:r>
              <a:rPr lang="en-GB" altLang="en-US" sz="3200" dirty="0">
                <a:latin typeface="Gill Sans MT" panose="020B0502020104020203" pitchFamily="34" charset="77"/>
              </a:rPr>
              <a:t> </a:t>
            </a:r>
          </a:p>
          <a:p>
            <a:endParaRPr lang="en-US" sz="3200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635AC-153C-6D1F-45C9-B94CFD5C0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C55BC-C90F-0995-3540-7B969B1D8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63262-D5A4-F96E-E5DB-EA35764D7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16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60167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8AF96-E8DC-AA32-8FBA-991C1B9E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>
                <a:latin typeface="Gill Sans MT" panose="020B0502020104020203" pitchFamily="34" charset="77"/>
                <a:cs typeface="Times New Roman" pitchFamily="18" charset="0"/>
              </a:rPr>
              <a:t>Recursive relationship called </a:t>
            </a:r>
            <a:r>
              <a:rPr lang="en-AU" i="1" dirty="0">
                <a:latin typeface="Gill Sans MT" panose="020B0502020104020203" pitchFamily="34" charset="77"/>
                <a:cs typeface="Arial" charset="0"/>
              </a:rPr>
              <a:t>Supervises</a:t>
            </a:r>
            <a:r>
              <a:rPr lang="en-AU" dirty="0">
                <a:latin typeface="Gill Sans MT" panose="020B0502020104020203" pitchFamily="34" charset="77"/>
                <a:cs typeface="Times New Roman" pitchFamily="18" charset="0"/>
              </a:rPr>
              <a:t> with role names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F9192-A4CE-A999-0F2A-D0EC4DA38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2D27C-B196-A642-45BA-C13728465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CCBA3-EC3A-5756-6CD7-B9C68DAA6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17</a:t>
            </a:fld>
            <a:endParaRPr lang="en-CA" dirty="0"/>
          </a:p>
        </p:txBody>
      </p:sp>
      <p:pic>
        <p:nvPicPr>
          <p:cNvPr id="7" name="Picture 5" descr="DS3-Figure 11-09">
            <a:extLst>
              <a:ext uri="{FF2B5EF4-FFF2-40B4-BE49-F238E27FC236}">
                <a16:creationId xmlns:a16="http://schemas.microsoft.com/office/drawing/2014/main" id="{E73C83F6-12C6-F1CF-0CEF-383E69CCA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117" y="1463675"/>
            <a:ext cx="8617765" cy="3973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0422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59AC7-1D86-008D-ACCF-57DB4D72B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94733"/>
            <a:ext cx="11215255" cy="972608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Gill Sans MT" panose="020B0502020104020203" pitchFamily="34" charset="77"/>
                <a:cs typeface="Times New Roman" pitchFamily="18" charset="0"/>
              </a:rPr>
              <a:t>Entities associated through two distinct relationships with role names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F41C2-356D-9F69-68DF-6BB8A05E3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3ACB6-3FA9-C0D7-EF9C-518C40A80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34C8D-574F-985E-3CF2-88F6625A4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18</a:t>
            </a:fld>
            <a:endParaRPr lang="en-CA" dirty="0"/>
          </a:p>
        </p:txBody>
      </p:sp>
      <p:pic>
        <p:nvPicPr>
          <p:cNvPr id="7" name="Picture 5" descr="DS3-Figure 11-10">
            <a:extLst>
              <a:ext uri="{FF2B5EF4-FFF2-40B4-BE49-F238E27FC236}">
                <a16:creationId xmlns:a16="http://schemas.microsoft.com/office/drawing/2014/main" id="{284E162D-EF14-87EF-A4FC-B4D54AE67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695" y="1422664"/>
            <a:ext cx="6828610" cy="5240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62244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4675F-BBE4-EE82-BBFC-DF189CB56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96C34-1FB8-717C-55A5-AB9E9B6B1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sz="3600" dirty="0">
                <a:latin typeface="Gill Sans MT" panose="020B0502020104020203" pitchFamily="34" charset="77"/>
              </a:rPr>
              <a:t>Attribute</a:t>
            </a:r>
          </a:p>
          <a:p>
            <a:pPr lvl="1"/>
            <a:r>
              <a:rPr lang="en-GB" altLang="en-US" sz="3200" dirty="0">
                <a:latin typeface="Gill Sans MT" panose="020B0502020104020203" pitchFamily="34" charset="77"/>
              </a:rPr>
              <a:t>Property of an entity or a relationship type.</a:t>
            </a:r>
          </a:p>
          <a:p>
            <a:pPr lvl="1">
              <a:lnSpc>
                <a:spcPct val="40000"/>
              </a:lnSpc>
            </a:pPr>
            <a:endParaRPr lang="en-GB" altLang="en-US" sz="3200" dirty="0">
              <a:latin typeface="Gill Sans MT" panose="020B0502020104020203" pitchFamily="34" charset="77"/>
            </a:endParaRPr>
          </a:p>
          <a:p>
            <a:r>
              <a:rPr lang="en-GB" altLang="en-US" sz="3600" dirty="0">
                <a:latin typeface="Gill Sans MT" panose="020B0502020104020203" pitchFamily="34" charset="77"/>
              </a:rPr>
              <a:t>Attribute Domain</a:t>
            </a:r>
          </a:p>
          <a:p>
            <a:pPr lvl="1"/>
            <a:r>
              <a:rPr lang="en-AU" altLang="en-US" sz="3200" dirty="0">
                <a:latin typeface="Gill Sans MT" panose="020B0502020104020203" pitchFamily="34" charset="77"/>
                <a:cs typeface="Times New Roman" panose="02020603050405020304" pitchFamily="18" charset="0"/>
              </a:rPr>
              <a:t>Set of allowable values for one or more attributes.</a:t>
            </a:r>
            <a:r>
              <a:rPr lang="en-GB" altLang="en-US" sz="3200" dirty="0">
                <a:latin typeface="Gill Sans MT" panose="020B0502020104020203" pitchFamily="34" charset="77"/>
              </a:rPr>
              <a:t>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BEF2B-A55E-9AFE-7DD8-2D35471C5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DE9AC-22BD-ED4F-C651-09F3CC3E2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E88D4-C39A-D1E1-7D79-3A4CEECF3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19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25599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CA23A-C4CC-A7A7-098C-BFD7B90E9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4A3D4-D10C-2FC6-AAB4-EA8536704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en-US" sz="3200" dirty="0">
                <a:latin typeface="Gill Sans MT" panose="020B0502020104020203" pitchFamily="34" charset="77"/>
              </a:rPr>
              <a:t>Simple Attribute</a:t>
            </a:r>
          </a:p>
          <a:p>
            <a:pPr lvl="1"/>
            <a:r>
              <a:rPr lang="en-GB" altLang="en-US" sz="2800" dirty="0">
                <a:latin typeface="Gill Sans MT" panose="020B0502020104020203" pitchFamily="34" charset="77"/>
              </a:rPr>
              <a:t>Attribute composed of a single component with an independent existence.</a:t>
            </a:r>
          </a:p>
          <a:p>
            <a:pPr lvl="1">
              <a:lnSpc>
                <a:spcPct val="40000"/>
              </a:lnSpc>
            </a:pPr>
            <a:endParaRPr lang="en-GB" altLang="en-US" sz="2800" dirty="0">
              <a:latin typeface="Gill Sans MT" panose="020B0502020104020203" pitchFamily="34" charset="77"/>
            </a:endParaRPr>
          </a:p>
          <a:p>
            <a:r>
              <a:rPr lang="en-GB" altLang="en-US" sz="3200" dirty="0">
                <a:latin typeface="Gill Sans MT" panose="020B0502020104020203" pitchFamily="34" charset="77"/>
              </a:rPr>
              <a:t>Composite Attribute</a:t>
            </a:r>
          </a:p>
          <a:p>
            <a:pPr lvl="1"/>
            <a:r>
              <a:rPr lang="en-GB" altLang="en-US" sz="2800" dirty="0">
                <a:latin typeface="Gill Sans MT" panose="020B0502020104020203" pitchFamily="34" charset="77"/>
              </a:rPr>
              <a:t>Attribute composed of multiple components, each with an independent existence.</a:t>
            </a:r>
          </a:p>
          <a:p>
            <a:endParaRPr lang="en-US" sz="3200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9DF8F-AF32-B6F0-EA2A-55BADA961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53E21-8421-1E9C-17F6-28217A6A1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BD3B8-5640-CDAF-5B73-756783124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20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91714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E2AA3-DF92-799B-5921-7BF8867C2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4F3C4-0C47-7CB4-5334-20F9C3E30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en-US" sz="3200" dirty="0">
                <a:latin typeface="Gill Sans MT" panose="020B0502020104020203" pitchFamily="34" charset="77"/>
              </a:rPr>
              <a:t>Single-valued Attribute</a:t>
            </a:r>
          </a:p>
          <a:p>
            <a:pPr lvl="1"/>
            <a:r>
              <a:rPr lang="en-AU" altLang="en-US" sz="2800" dirty="0">
                <a:latin typeface="Gill Sans MT" panose="020B0502020104020203" pitchFamily="34" charset="77"/>
                <a:cs typeface="Times New Roman" panose="02020603050405020304" pitchFamily="18" charset="0"/>
              </a:rPr>
              <a:t>Attribute that holds a single value for each occurrence of an entity type.</a:t>
            </a:r>
            <a:r>
              <a:rPr lang="en-GB" altLang="en-US" sz="2800" dirty="0">
                <a:latin typeface="Gill Sans MT" panose="020B0502020104020203" pitchFamily="34" charset="77"/>
              </a:rPr>
              <a:t> </a:t>
            </a:r>
          </a:p>
          <a:p>
            <a:pPr>
              <a:lnSpc>
                <a:spcPct val="40000"/>
              </a:lnSpc>
            </a:pPr>
            <a:endParaRPr lang="en-GB" altLang="en-US" sz="3200" dirty="0">
              <a:latin typeface="Gill Sans MT" panose="020B0502020104020203" pitchFamily="34" charset="77"/>
            </a:endParaRPr>
          </a:p>
          <a:p>
            <a:r>
              <a:rPr lang="en-GB" altLang="en-US" sz="3200" dirty="0">
                <a:latin typeface="Gill Sans MT" panose="020B0502020104020203" pitchFamily="34" charset="77"/>
              </a:rPr>
              <a:t>Multi-valued Attribute</a:t>
            </a:r>
          </a:p>
          <a:p>
            <a:pPr lvl="1"/>
            <a:r>
              <a:rPr lang="en-AU" altLang="en-US" sz="2800" dirty="0">
                <a:latin typeface="Gill Sans MT" panose="020B0502020104020203" pitchFamily="34" charset="77"/>
                <a:cs typeface="Times New Roman" panose="02020603050405020304" pitchFamily="18" charset="0"/>
              </a:rPr>
              <a:t>Attribute that holds multiple values for each occurrence of an entity type.</a:t>
            </a:r>
            <a:r>
              <a:rPr lang="en-GB" altLang="en-US" sz="2800" dirty="0">
                <a:latin typeface="Gill Sans MT" panose="020B0502020104020203" pitchFamily="34" charset="77"/>
              </a:rPr>
              <a:t> </a:t>
            </a:r>
          </a:p>
          <a:p>
            <a:endParaRPr lang="en-US" sz="3200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DDDAC-F277-1E83-E48E-425F116AB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F34C4-8E13-3285-8208-87350082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4A1A9-3785-4EA0-0B19-CF6B529E1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21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50714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9BDA1-A01D-CCAD-6B82-1A64702E3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795F6-7BF4-6CDC-17E2-67FC824E1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en-US" sz="3600" dirty="0">
                <a:latin typeface="Gill Sans MT" panose="020B0502020104020203" pitchFamily="34" charset="77"/>
                <a:cs typeface="Gill Sans Nova Light" panose="020F0302020204030204" pitchFamily="34" charset="0"/>
              </a:rPr>
              <a:t>Derived Attribute</a:t>
            </a:r>
          </a:p>
          <a:p>
            <a:pPr lvl="1"/>
            <a:r>
              <a:rPr lang="en-AU" altLang="en-US" sz="3200" dirty="0">
                <a:latin typeface="Gill Sans MT" panose="020B0502020104020203" pitchFamily="34" charset="77"/>
                <a:cs typeface="Gill Sans Nova Light" panose="020F0302020204030204" pitchFamily="34" charset="0"/>
              </a:rPr>
              <a:t>Attribute that represents a value that is derivable from value of a related attribute, or set of attributes, not necessarily in the same entity type.</a:t>
            </a:r>
            <a:r>
              <a:rPr lang="en-GB" altLang="en-US" sz="3200" dirty="0">
                <a:latin typeface="Gill Sans MT" panose="020B0502020104020203" pitchFamily="34" charset="77"/>
                <a:cs typeface="Gill Sans Nova Light" panose="020F0302020204030204" pitchFamily="34" charset="0"/>
              </a:rPr>
              <a:t> </a:t>
            </a:r>
          </a:p>
          <a:p>
            <a:endParaRPr lang="en-US" sz="3600" dirty="0">
              <a:latin typeface="Gill Sans MT" panose="020B0502020104020203" pitchFamily="34" charset="77"/>
              <a:cs typeface="Gill Sans Nova Light" panose="020F03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FD23B-B350-119C-04A4-C0F7D31F3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DE0D9-B807-1412-7E3A-28EE18D67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FC642-CF63-F542-299C-41F2292A7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22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654653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B3038-C76C-84C2-B411-DE157B9A7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001AE-6A7D-6723-BAE5-03482F532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en-US" sz="3200" dirty="0">
                <a:latin typeface="Gill Sans MT" panose="020B0502020104020203" pitchFamily="34" charset="77"/>
              </a:rPr>
              <a:t>Candidate Key</a:t>
            </a:r>
          </a:p>
          <a:p>
            <a:pPr lvl="1"/>
            <a:r>
              <a:rPr lang="en-AU" altLang="en-US" sz="2800" dirty="0">
                <a:latin typeface="Gill Sans MT" panose="020B0502020104020203" pitchFamily="34" charset="77"/>
                <a:cs typeface="Times New Roman" panose="02020603050405020304" pitchFamily="18" charset="0"/>
              </a:rPr>
              <a:t>Minimal set of attributes that uniquely identifies each occurrence of an entity type.</a:t>
            </a:r>
            <a:r>
              <a:rPr lang="en-GB" altLang="en-US" sz="2800" dirty="0">
                <a:latin typeface="Gill Sans MT" panose="020B0502020104020203" pitchFamily="34" charset="77"/>
              </a:rPr>
              <a:t> </a:t>
            </a:r>
          </a:p>
          <a:p>
            <a:pPr lvl="1">
              <a:lnSpc>
                <a:spcPct val="40000"/>
              </a:lnSpc>
            </a:pPr>
            <a:endParaRPr lang="en-GB" altLang="en-US" sz="2800" dirty="0">
              <a:latin typeface="Gill Sans MT" panose="020B0502020104020203" pitchFamily="34" charset="77"/>
            </a:endParaRPr>
          </a:p>
          <a:p>
            <a:r>
              <a:rPr lang="en-GB" altLang="en-US" sz="3200" dirty="0">
                <a:latin typeface="Gill Sans MT" panose="020B0502020104020203" pitchFamily="34" charset="77"/>
              </a:rPr>
              <a:t>Primary Key</a:t>
            </a:r>
          </a:p>
          <a:p>
            <a:pPr lvl="1"/>
            <a:r>
              <a:rPr lang="en-AU" altLang="en-US" sz="2800" u="sng" dirty="0">
                <a:latin typeface="Gill Sans MT" panose="020B0502020104020203" pitchFamily="34" charset="77"/>
                <a:cs typeface="Times New Roman" panose="02020603050405020304" pitchFamily="18" charset="0"/>
              </a:rPr>
              <a:t>Candidate key</a:t>
            </a:r>
            <a:r>
              <a:rPr lang="en-AU" altLang="en-US" sz="2800" dirty="0">
                <a:latin typeface="Gill Sans MT" panose="020B0502020104020203" pitchFamily="34" charset="77"/>
                <a:cs typeface="Times New Roman" panose="02020603050405020304" pitchFamily="18" charset="0"/>
              </a:rPr>
              <a:t> selected to uniquely identify each occurrence of an entity type.</a:t>
            </a:r>
            <a:r>
              <a:rPr lang="en-GB" altLang="en-US" sz="2800" dirty="0">
                <a:latin typeface="Gill Sans MT" panose="020B0502020104020203" pitchFamily="34" charset="77"/>
              </a:rPr>
              <a:t> </a:t>
            </a:r>
          </a:p>
          <a:p>
            <a:pPr lvl="1">
              <a:lnSpc>
                <a:spcPct val="30000"/>
              </a:lnSpc>
            </a:pPr>
            <a:endParaRPr lang="en-GB" altLang="en-US" sz="2800" dirty="0">
              <a:latin typeface="Gill Sans MT" panose="020B0502020104020203" pitchFamily="34" charset="77"/>
            </a:endParaRPr>
          </a:p>
          <a:p>
            <a:r>
              <a:rPr lang="en-GB" altLang="en-US" sz="3200" dirty="0">
                <a:latin typeface="Gill Sans MT" panose="020B0502020104020203" pitchFamily="34" charset="77"/>
              </a:rPr>
              <a:t>Composite Key</a:t>
            </a:r>
          </a:p>
          <a:p>
            <a:pPr lvl="1"/>
            <a:r>
              <a:rPr lang="en-AU" altLang="en-US" sz="2800" dirty="0">
                <a:latin typeface="Gill Sans MT" panose="020B0502020104020203" pitchFamily="34" charset="77"/>
                <a:cs typeface="Times New Roman" panose="02020603050405020304" pitchFamily="18" charset="0"/>
              </a:rPr>
              <a:t>A </a:t>
            </a:r>
            <a:r>
              <a:rPr lang="en-AU" altLang="en-US" sz="2800" u="sng" dirty="0">
                <a:latin typeface="Gill Sans MT" panose="020B0502020104020203" pitchFamily="34" charset="77"/>
                <a:cs typeface="Times New Roman" panose="02020603050405020304" pitchFamily="18" charset="0"/>
              </a:rPr>
              <a:t>candidate key </a:t>
            </a:r>
            <a:r>
              <a:rPr lang="en-AU" altLang="en-US" sz="2800" dirty="0">
                <a:latin typeface="Gill Sans MT" panose="020B0502020104020203" pitchFamily="34" charset="77"/>
                <a:cs typeface="Times New Roman" panose="02020603050405020304" pitchFamily="18" charset="0"/>
              </a:rPr>
              <a:t>that consists of two or more attributes.</a:t>
            </a:r>
            <a:r>
              <a:rPr lang="en-GB" altLang="en-US" sz="2800" dirty="0">
                <a:latin typeface="Gill Sans MT" panose="020B0502020104020203" pitchFamily="34" charset="77"/>
              </a:rPr>
              <a:t> </a:t>
            </a:r>
          </a:p>
          <a:p>
            <a:endParaRPr lang="en-US" sz="3200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FFA5E-3A0B-1090-98CC-D407947FB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E6942-7B1F-B741-1C37-E8AAC53E2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A7491-789E-3D68-A0F6-DF6D1CDED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23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581254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20033-B7BA-D740-D01D-4375E0F44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0159"/>
            <a:ext cx="10515600" cy="972608"/>
          </a:xfrm>
        </p:spPr>
        <p:txBody>
          <a:bodyPr>
            <a:normAutofit fontScale="90000"/>
          </a:bodyPr>
          <a:lstStyle/>
          <a:p>
            <a:r>
              <a:rPr lang="en-US" dirty="0"/>
              <a:t>ER diagram of  Staff and  Branch entities and their attributes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15961-0DD1-695B-EA7D-361D71B2C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15AB1-AE41-6CC6-AA17-8C98F4825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95968-F1C2-31A5-4CE6-4AA6B0A69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24</a:t>
            </a:fld>
            <a:endParaRPr lang="en-CA" dirty="0"/>
          </a:p>
        </p:txBody>
      </p:sp>
      <p:pic>
        <p:nvPicPr>
          <p:cNvPr id="7" name="Picture 1032" descr="DS3-Figure 11-11">
            <a:extLst>
              <a:ext uri="{FF2B5EF4-FFF2-40B4-BE49-F238E27FC236}">
                <a16:creationId xmlns:a16="http://schemas.microsoft.com/office/drawing/2014/main" id="{4C3AC433-BA66-816C-6AA3-B2898BF48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879" y="1456318"/>
            <a:ext cx="9207917" cy="4836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1164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8BA2D-B3D4-70C6-A4CA-4CC94960A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1F682-51F2-A598-CCD3-68D8ECBC8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en-US" sz="3600" dirty="0">
                <a:latin typeface="Gill Sans MT" panose="020B0502020104020203" pitchFamily="34" charset="77"/>
              </a:rPr>
              <a:t>Strong Entity Type</a:t>
            </a:r>
          </a:p>
          <a:p>
            <a:pPr lvl="1"/>
            <a:r>
              <a:rPr lang="en-AU" altLang="en-US" sz="3200" dirty="0">
                <a:latin typeface="Gill Sans MT" panose="020B0502020104020203" pitchFamily="34" charset="77"/>
                <a:cs typeface="Times New Roman" panose="02020603050405020304" pitchFamily="18" charset="0"/>
              </a:rPr>
              <a:t>Entity type that is </a:t>
            </a:r>
            <a:r>
              <a:rPr lang="en-AU" altLang="en-US" sz="3200" i="1" dirty="0">
                <a:latin typeface="Gill Sans MT" panose="020B0502020104020203" pitchFamily="34" charset="77"/>
                <a:cs typeface="Times New Roman" panose="02020603050405020304" pitchFamily="18" charset="0"/>
              </a:rPr>
              <a:t>not</a:t>
            </a:r>
            <a:r>
              <a:rPr lang="en-AU" altLang="en-US" sz="3200" dirty="0">
                <a:latin typeface="Gill Sans MT" panose="020B0502020104020203" pitchFamily="34" charset="77"/>
                <a:cs typeface="Times New Roman" panose="02020603050405020304" pitchFamily="18" charset="0"/>
              </a:rPr>
              <a:t> existence-dependent on some other entity type.</a:t>
            </a:r>
            <a:r>
              <a:rPr lang="en-GB" altLang="en-US" sz="3200" dirty="0">
                <a:latin typeface="Gill Sans MT" panose="020B0502020104020203" pitchFamily="34" charset="77"/>
              </a:rPr>
              <a:t> </a:t>
            </a:r>
          </a:p>
          <a:p>
            <a:pPr lvl="1">
              <a:lnSpc>
                <a:spcPct val="40000"/>
              </a:lnSpc>
            </a:pPr>
            <a:endParaRPr lang="en-GB" altLang="en-US" sz="3200" dirty="0">
              <a:latin typeface="Gill Sans MT" panose="020B0502020104020203" pitchFamily="34" charset="77"/>
            </a:endParaRPr>
          </a:p>
          <a:p>
            <a:r>
              <a:rPr lang="en-GB" altLang="en-US" sz="3600" dirty="0">
                <a:latin typeface="Gill Sans MT" panose="020B0502020104020203" pitchFamily="34" charset="77"/>
              </a:rPr>
              <a:t>Weak Entity Type</a:t>
            </a:r>
          </a:p>
          <a:p>
            <a:pPr lvl="1"/>
            <a:r>
              <a:rPr lang="en-AU" altLang="en-US" sz="3200" dirty="0">
                <a:latin typeface="Gill Sans MT" panose="020B0502020104020203" pitchFamily="34" charset="77"/>
                <a:cs typeface="Times New Roman" panose="02020603050405020304" pitchFamily="18" charset="0"/>
              </a:rPr>
              <a:t>Entity type that is existence-dependent on some other entity type.</a:t>
            </a:r>
            <a:r>
              <a:rPr lang="en-GB" altLang="en-US" sz="3200" dirty="0">
                <a:latin typeface="Gill Sans MT" panose="020B0502020104020203" pitchFamily="34" charset="77"/>
              </a:rPr>
              <a:t> </a:t>
            </a:r>
          </a:p>
          <a:p>
            <a:endParaRPr lang="en-GB" altLang="en-US" sz="3600" dirty="0">
              <a:latin typeface="Gill Sans MT" panose="020B0502020104020203" pitchFamily="34" charset="77"/>
            </a:endParaRPr>
          </a:p>
          <a:p>
            <a:endParaRPr lang="en-US" sz="3600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C8473-AE46-C57C-F240-828FF233B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34D7E-5D26-851B-9242-AB357EE79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2D550-C526-9AF2-ABF1-9E840240B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25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468043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01764-82C0-0688-38BF-9643069B5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4732"/>
            <a:ext cx="10515600" cy="1567565"/>
          </a:xfrm>
        </p:spPr>
        <p:txBody>
          <a:bodyPr>
            <a:normAutofit/>
          </a:bodyPr>
          <a:lstStyle/>
          <a:p>
            <a:r>
              <a:rPr lang="en-AU" dirty="0">
                <a:latin typeface="Gill Sans MT" panose="020B0502020104020203" pitchFamily="34" charset="77"/>
                <a:cs typeface="Times New Roman" pitchFamily="18" charset="0"/>
              </a:rPr>
              <a:t>Strong entity type called </a:t>
            </a:r>
            <a:r>
              <a:rPr lang="en-AU" dirty="0">
                <a:latin typeface="Gill Sans MT" panose="020B0502020104020203" pitchFamily="34" charset="77"/>
                <a:cs typeface="Arial" charset="0"/>
              </a:rPr>
              <a:t>Client</a:t>
            </a:r>
            <a:r>
              <a:rPr lang="en-AU" dirty="0">
                <a:latin typeface="Gill Sans MT" panose="020B0502020104020203" pitchFamily="34" charset="77"/>
                <a:cs typeface="Times New Roman" pitchFamily="18" charset="0"/>
              </a:rPr>
              <a:t> and weak entity type called </a:t>
            </a:r>
            <a:r>
              <a:rPr lang="en-AU" dirty="0">
                <a:latin typeface="Gill Sans MT" panose="020B0502020104020203" pitchFamily="34" charset="77"/>
                <a:cs typeface="Arial" charset="0"/>
              </a:rPr>
              <a:t>Preference</a:t>
            </a:r>
            <a:r>
              <a:rPr lang="en-GB" dirty="0">
                <a:latin typeface="Gill Sans MT" panose="020B0502020104020203" pitchFamily="34" charset="77"/>
              </a:rPr>
              <a:t> 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ED109-DDB6-765A-BC7D-DB8B60ECB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1CD7F-9EB3-734D-0493-11DE6332E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DDB0D-0976-0170-0DFB-B15F1C67B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26</a:t>
            </a:fld>
            <a:endParaRPr lang="en-CA" dirty="0"/>
          </a:p>
        </p:txBody>
      </p:sp>
      <p:pic>
        <p:nvPicPr>
          <p:cNvPr id="7" name="Picture 8" descr="DS3-Figure 11-12">
            <a:extLst>
              <a:ext uri="{FF2B5EF4-FFF2-40B4-BE49-F238E27FC236}">
                <a16:creationId xmlns:a16="http://schemas.microsoft.com/office/drawing/2014/main" id="{9C7955D7-66EB-F025-DCA3-21E9B96D8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250" y="1939577"/>
            <a:ext cx="7427500" cy="4239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7891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06156-4D00-2A59-BB53-71A0E0C2C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>
                <a:latin typeface="Gill Sans MT" panose="020B0502020104020203" pitchFamily="34" charset="77"/>
                <a:cs typeface="Times New Roman" pitchFamily="18" charset="0"/>
              </a:rPr>
              <a:t>Relationship called </a:t>
            </a:r>
            <a:r>
              <a:rPr lang="en-AU" i="1" dirty="0">
                <a:latin typeface="Gill Sans MT" panose="020B0502020104020203" pitchFamily="34" charset="77"/>
                <a:cs typeface="Arial" charset="0"/>
              </a:rPr>
              <a:t>Advertises</a:t>
            </a:r>
            <a:r>
              <a:rPr lang="en-AU" dirty="0">
                <a:latin typeface="Gill Sans MT" panose="020B0502020104020203" pitchFamily="34" charset="77"/>
                <a:cs typeface="Times New Roman" pitchFamily="18" charset="0"/>
              </a:rPr>
              <a:t> with attributes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51BFB-FD95-F52F-1C86-E4F60B898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F8C2C-D007-9810-ADC3-42137DC03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287B9-B786-001F-4412-8656A2575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27</a:t>
            </a:fld>
            <a:endParaRPr lang="en-CA" dirty="0"/>
          </a:p>
        </p:txBody>
      </p:sp>
      <p:pic>
        <p:nvPicPr>
          <p:cNvPr id="7" name="Picture 5" descr="DS3-Figure 11-13">
            <a:extLst>
              <a:ext uri="{FF2B5EF4-FFF2-40B4-BE49-F238E27FC236}">
                <a16:creationId xmlns:a16="http://schemas.microsoft.com/office/drawing/2014/main" id="{BF216634-0C19-BE9A-6E4C-9851E1942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698" y="1421478"/>
            <a:ext cx="8362604" cy="4680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23436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2954-5BA2-47A6-C37F-D57DBA607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ill Sans MT" panose="020B0502020104020203" pitchFamily="34" charset="77"/>
              </a:rPr>
              <a:t>Structural Constraints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407FD-B5B4-4B63-C62B-E0032A7CF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sz="3600" dirty="0">
                <a:latin typeface="Gill Sans MT" panose="020B0502020104020203" pitchFamily="34" charset="77"/>
              </a:rPr>
              <a:t>Main type of constraint on relationships is called </a:t>
            </a:r>
            <a:r>
              <a:rPr lang="en-GB" altLang="en-US" sz="3600" i="1" dirty="0">
                <a:solidFill>
                  <a:srgbClr val="C00000"/>
                </a:solidFill>
                <a:latin typeface="Gill Sans MT" panose="020B0502020104020203" pitchFamily="34" charset="77"/>
              </a:rPr>
              <a:t>multiplicity</a:t>
            </a:r>
            <a:r>
              <a:rPr lang="en-GB" altLang="en-US" sz="3600" dirty="0">
                <a:latin typeface="Gill Sans MT" panose="020B0502020104020203" pitchFamily="34" charset="77"/>
              </a:rPr>
              <a:t>.</a:t>
            </a:r>
          </a:p>
          <a:p>
            <a:pPr>
              <a:lnSpc>
                <a:spcPct val="30000"/>
              </a:lnSpc>
            </a:pPr>
            <a:endParaRPr lang="en-GB" altLang="en-US" sz="3600" dirty="0">
              <a:latin typeface="Gill Sans MT" panose="020B0502020104020203" pitchFamily="34" charset="77"/>
            </a:endParaRPr>
          </a:p>
          <a:p>
            <a:r>
              <a:rPr lang="en-GB" altLang="en-US" sz="3600" dirty="0">
                <a:latin typeface="Gill Sans MT" panose="020B0502020104020203" pitchFamily="34" charset="77"/>
              </a:rPr>
              <a:t>Multiplicity - </a:t>
            </a:r>
            <a:r>
              <a:rPr lang="en-AU" altLang="en-US" sz="3600" dirty="0">
                <a:latin typeface="Gill Sans MT" panose="020B0502020104020203" pitchFamily="34" charset="77"/>
                <a:cs typeface="Times New Roman" panose="02020603050405020304" pitchFamily="18" charset="0"/>
              </a:rPr>
              <a:t>number (or range) of possible occurrences of an entity type that may relate to a single occurrence of an associated entity type through a particular relationship.</a:t>
            </a:r>
            <a:r>
              <a:rPr lang="en-GB" altLang="en-US" sz="3600" dirty="0">
                <a:latin typeface="Gill Sans MT" panose="020B0502020104020203" pitchFamily="34" charset="77"/>
              </a:rPr>
              <a:t> </a:t>
            </a:r>
          </a:p>
          <a:p>
            <a:pPr lvl="1">
              <a:lnSpc>
                <a:spcPct val="30000"/>
              </a:lnSpc>
            </a:pPr>
            <a:endParaRPr lang="en-GB" altLang="en-US" sz="3200" dirty="0">
              <a:latin typeface="Gill Sans MT" panose="020B0502020104020203" pitchFamily="34" charset="77"/>
            </a:endParaRPr>
          </a:p>
          <a:p>
            <a:r>
              <a:rPr lang="en-GB" altLang="en-US" sz="3600" dirty="0">
                <a:latin typeface="Gill Sans MT" panose="020B0502020104020203" pitchFamily="34" charset="77"/>
              </a:rPr>
              <a:t>Represents policies (called </a:t>
            </a:r>
            <a:r>
              <a:rPr lang="en-GB" altLang="en-US" sz="3600" i="1" dirty="0">
                <a:latin typeface="Gill Sans MT" panose="020B0502020104020203" pitchFamily="34" charset="77"/>
              </a:rPr>
              <a:t>business rules</a:t>
            </a:r>
            <a:r>
              <a:rPr lang="en-GB" altLang="en-US" sz="3600" dirty="0">
                <a:latin typeface="Gill Sans MT" panose="020B0502020104020203" pitchFamily="34" charset="77"/>
              </a:rPr>
              <a:t>) established by user or company.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AA84D-76C2-F892-0B1F-9695F0DA3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2C994-1FBB-9951-F6C2-9D9DD8259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1AA51-0EB6-25CA-004E-19F494D78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28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259081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5EE06-C9D5-0810-374E-EEBFEAEDA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ill Sans MT" panose="020B0502020104020203" pitchFamily="34" charset="77"/>
              </a:rPr>
              <a:t>Structural Constraints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18B8E-105E-FBF2-429B-2E321A733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altLang="en-US" sz="3600" dirty="0">
                <a:latin typeface="Gill Sans MT" panose="020B0502020104020203" pitchFamily="34" charset="77"/>
                <a:cs typeface="Times New Roman" panose="02020603050405020304" pitchFamily="18" charset="0"/>
              </a:rPr>
              <a:t>The most common degree for relationships is binary. </a:t>
            </a:r>
          </a:p>
          <a:p>
            <a:pPr lvl="1">
              <a:lnSpc>
                <a:spcPct val="40000"/>
              </a:lnSpc>
            </a:pPr>
            <a:endParaRPr lang="en-AU" altLang="en-US" sz="3200" dirty="0">
              <a:latin typeface="Gill Sans MT" panose="020B0502020104020203" pitchFamily="34" charset="77"/>
              <a:cs typeface="Times New Roman" panose="02020603050405020304" pitchFamily="18" charset="0"/>
            </a:endParaRPr>
          </a:p>
          <a:p>
            <a:r>
              <a:rPr lang="en-AU" altLang="en-US" sz="3600" dirty="0">
                <a:latin typeface="Gill Sans MT" panose="020B0502020104020203" pitchFamily="34" charset="77"/>
                <a:cs typeface="Times New Roman" panose="02020603050405020304" pitchFamily="18" charset="0"/>
              </a:rPr>
              <a:t>Binary relationships are generally referred to as being:</a:t>
            </a:r>
          </a:p>
          <a:p>
            <a:pPr lvl="1"/>
            <a:r>
              <a:rPr lang="en-AU" altLang="en-US" sz="3200" dirty="0">
                <a:latin typeface="Gill Sans MT" panose="020B0502020104020203" pitchFamily="34" charset="77"/>
                <a:cs typeface="Times New Roman" panose="02020603050405020304" pitchFamily="18" charset="0"/>
              </a:rPr>
              <a:t>one-to-one (1:1)</a:t>
            </a:r>
          </a:p>
          <a:p>
            <a:pPr lvl="1"/>
            <a:r>
              <a:rPr lang="en-AU" altLang="en-US" sz="3200" dirty="0">
                <a:latin typeface="Gill Sans MT" panose="020B0502020104020203" pitchFamily="34" charset="77"/>
                <a:cs typeface="Times New Roman" panose="02020603050405020304" pitchFamily="18" charset="0"/>
              </a:rPr>
              <a:t>one-to-many (1:*)</a:t>
            </a:r>
          </a:p>
          <a:p>
            <a:pPr lvl="1"/>
            <a:r>
              <a:rPr lang="en-AU" altLang="en-US" sz="3200" dirty="0">
                <a:latin typeface="Gill Sans MT" panose="020B0502020104020203" pitchFamily="34" charset="77"/>
                <a:cs typeface="Times New Roman" panose="02020603050405020304" pitchFamily="18" charset="0"/>
              </a:rPr>
              <a:t>many-to-many (*:*)</a:t>
            </a:r>
            <a:endParaRPr lang="en-GB" altLang="en-US" sz="3200" dirty="0">
              <a:latin typeface="Gill Sans MT" panose="020B0502020104020203" pitchFamily="34" charset="77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8766C-B852-A51B-B717-89ED2EC36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642D5-E50D-0FCE-D2EA-83E4C1A7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D520E-44BB-373A-D3B4-74163E6A0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29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956500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DD6F5-730E-37F4-CE4C-544CA334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>
                <a:latin typeface="Gill Sans MT" panose="020B0502020104020203" pitchFamily="34" charset="77"/>
                <a:cs typeface="Times New Roman" pitchFamily="18" charset="0"/>
              </a:rPr>
              <a:t>Semantic net of </a:t>
            </a:r>
            <a:r>
              <a:rPr lang="en-AU" dirty="0">
                <a:latin typeface="Gill Sans MT" panose="020B0502020104020203" pitchFamily="34" charset="77"/>
                <a:cs typeface="Arial" charset="0"/>
              </a:rPr>
              <a:t>Staff </a:t>
            </a:r>
            <a:r>
              <a:rPr lang="en-AU" i="1" dirty="0">
                <a:latin typeface="Gill Sans MT" panose="020B0502020104020203" pitchFamily="34" charset="77"/>
                <a:cs typeface="Arial" charset="0"/>
              </a:rPr>
              <a:t>Manages </a:t>
            </a:r>
            <a:r>
              <a:rPr lang="en-AU" dirty="0">
                <a:latin typeface="Gill Sans MT" panose="020B0502020104020203" pitchFamily="34" charset="77"/>
                <a:cs typeface="Arial" charset="0"/>
              </a:rPr>
              <a:t>Branch</a:t>
            </a:r>
            <a:r>
              <a:rPr lang="en-AU" dirty="0">
                <a:latin typeface="Gill Sans MT" panose="020B0502020104020203" pitchFamily="34" charset="77"/>
                <a:cs typeface="Times New Roman" pitchFamily="18" charset="0"/>
              </a:rPr>
              <a:t> relationship type</a:t>
            </a:r>
            <a:r>
              <a:rPr lang="en-GB" dirty="0">
                <a:latin typeface="Gill Sans MT" panose="020B0502020104020203" pitchFamily="34" charset="77"/>
              </a:rPr>
              <a:t> 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FC83E-2A7B-8EB9-A517-8772042A8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A3732-6F29-F0BD-7D89-359C5C9DB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71DCF-51BE-3251-EACC-5339E0423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30</a:t>
            </a:fld>
            <a:endParaRPr lang="en-CA" dirty="0"/>
          </a:p>
        </p:txBody>
      </p:sp>
      <p:pic>
        <p:nvPicPr>
          <p:cNvPr id="7" name="Picture 7" descr="DS3-Figure 11-14a">
            <a:extLst>
              <a:ext uri="{FF2B5EF4-FFF2-40B4-BE49-F238E27FC236}">
                <a16:creationId xmlns:a16="http://schemas.microsoft.com/office/drawing/2014/main" id="{E6F426F7-0825-BC2C-8B1C-A32B33D54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302" y="1553231"/>
            <a:ext cx="8555846" cy="4498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25231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5A9E2-7DB6-F1AA-B871-02AAA779A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4733"/>
            <a:ext cx="10515600" cy="1368060"/>
          </a:xfrm>
        </p:spPr>
        <p:txBody>
          <a:bodyPr>
            <a:normAutofit/>
          </a:bodyPr>
          <a:lstStyle/>
          <a:p>
            <a:r>
              <a:rPr lang="en-AU" dirty="0">
                <a:latin typeface="Gill Sans MT" panose="020B0502020104020203" pitchFamily="34" charset="77"/>
                <a:cs typeface="Times New Roman" pitchFamily="18" charset="0"/>
              </a:rPr>
              <a:t>Multiplicity of </a:t>
            </a:r>
            <a:r>
              <a:rPr lang="en-AU" dirty="0">
                <a:latin typeface="Gill Sans MT" panose="020B0502020104020203" pitchFamily="34" charset="77"/>
                <a:cs typeface="Arial" charset="0"/>
              </a:rPr>
              <a:t>Staff </a:t>
            </a:r>
            <a:r>
              <a:rPr lang="en-AU" i="1" dirty="0">
                <a:latin typeface="Gill Sans MT" panose="020B0502020104020203" pitchFamily="34" charset="77"/>
                <a:cs typeface="Arial" charset="0"/>
              </a:rPr>
              <a:t>Manages</a:t>
            </a:r>
            <a:r>
              <a:rPr lang="en-AU" dirty="0">
                <a:latin typeface="Gill Sans MT" panose="020B0502020104020203" pitchFamily="34" charset="77"/>
                <a:cs typeface="Arial" charset="0"/>
              </a:rPr>
              <a:t> Branch</a:t>
            </a:r>
            <a:r>
              <a:rPr lang="en-AU" dirty="0">
                <a:latin typeface="Gill Sans MT" panose="020B0502020104020203" pitchFamily="34" charset="77"/>
                <a:cs typeface="Times New Roman" pitchFamily="18" charset="0"/>
              </a:rPr>
              <a:t> (1:1) relationship</a:t>
            </a:r>
            <a:r>
              <a:rPr lang="en-GB" dirty="0">
                <a:latin typeface="Gill Sans MT" panose="020B0502020104020203" pitchFamily="34" charset="77"/>
              </a:rPr>
              <a:t> 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E0342-2407-54B8-0495-D4057309A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B0F60-B54F-9C22-C925-588D7DF60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8904A-FE54-0ACB-FB47-6C233D7CA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31</a:t>
            </a:fld>
            <a:endParaRPr lang="en-CA" dirty="0"/>
          </a:p>
        </p:txBody>
      </p:sp>
      <p:pic>
        <p:nvPicPr>
          <p:cNvPr id="7" name="Picture 8" descr="DS3-Figure 11-14b">
            <a:extLst>
              <a:ext uri="{FF2B5EF4-FFF2-40B4-BE49-F238E27FC236}">
                <a16:creationId xmlns:a16="http://schemas.microsoft.com/office/drawing/2014/main" id="{9D8C7A45-F244-2FCE-8882-6C0CC3BDA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74" y="1769226"/>
            <a:ext cx="8610452" cy="4398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242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D7D5E-E448-1707-368A-16CC178E7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>
                <a:latin typeface="Gill Sans MT" panose="020B0502020104020203" pitchFamily="34" charset="77"/>
                <a:cs typeface="Times New Roman" pitchFamily="18" charset="0"/>
              </a:rPr>
              <a:t>Semantic net of </a:t>
            </a:r>
            <a:r>
              <a:rPr lang="en-AU" dirty="0">
                <a:latin typeface="Gill Sans MT" panose="020B0502020104020203" pitchFamily="34" charset="77"/>
                <a:cs typeface="Arial" charset="0"/>
              </a:rPr>
              <a:t>Staff </a:t>
            </a:r>
            <a:r>
              <a:rPr lang="en-AU" i="1" dirty="0">
                <a:latin typeface="Gill Sans MT" panose="020B0502020104020203" pitchFamily="34" charset="77"/>
                <a:cs typeface="Arial" charset="0"/>
              </a:rPr>
              <a:t>Oversees </a:t>
            </a:r>
            <a:r>
              <a:rPr lang="en-AU" dirty="0" err="1">
                <a:latin typeface="Gill Sans MT" panose="020B0502020104020203" pitchFamily="34" charset="77"/>
                <a:cs typeface="Arial" charset="0"/>
              </a:rPr>
              <a:t>PropertyForRent</a:t>
            </a:r>
            <a:r>
              <a:rPr lang="en-AU" dirty="0">
                <a:latin typeface="Gill Sans MT" panose="020B0502020104020203" pitchFamily="34" charset="77"/>
                <a:cs typeface="Times New Roman" pitchFamily="18" charset="0"/>
              </a:rPr>
              <a:t> relationship type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A1459-4B7E-82B6-66B7-A5FB9518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57EB6-C0F0-2C1C-94E6-3256AC97E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9F5CB-F896-5BFE-1955-10A2B912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32</a:t>
            </a:fld>
            <a:endParaRPr lang="en-CA" dirty="0"/>
          </a:p>
        </p:txBody>
      </p:sp>
      <p:pic>
        <p:nvPicPr>
          <p:cNvPr id="7" name="Picture 9" descr="DS3-Figure 11-15a">
            <a:extLst>
              <a:ext uri="{FF2B5EF4-FFF2-40B4-BE49-F238E27FC236}">
                <a16:creationId xmlns:a16="http://schemas.microsoft.com/office/drawing/2014/main" id="{65B45E0D-17F0-BA4C-E109-A2BF7B371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6712" y="1616825"/>
            <a:ext cx="8678575" cy="4384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60007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85F83-E591-F754-8B99-BC0E42BFE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Multiplicity of Staff </a:t>
            </a:r>
            <a:r>
              <a:rPr lang="en-US" i="1" dirty="0"/>
              <a:t>Oversees</a:t>
            </a:r>
            <a:r>
              <a:rPr lang="en-US" dirty="0"/>
              <a:t> </a:t>
            </a:r>
            <a:r>
              <a:rPr lang="en-US" dirty="0" err="1"/>
              <a:t>PropertyForRent</a:t>
            </a:r>
            <a:r>
              <a:rPr lang="en-US" dirty="0"/>
              <a:t> (1:*) relationship type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78CDA-7028-3F0B-486C-113C7609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FC07E-9305-C105-A958-2D0E35D47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FA401-D997-F20C-DA5C-FB4CDD9F3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33</a:t>
            </a:fld>
            <a:endParaRPr lang="en-CA" dirty="0"/>
          </a:p>
        </p:txBody>
      </p:sp>
      <p:pic>
        <p:nvPicPr>
          <p:cNvPr id="7" name="Picture 8" descr="DS3-Figure 11-15b">
            <a:extLst>
              <a:ext uri="{FF2B5EF4-FFF2-40B4-BE49-F238E27FC236}">
                <a16:creationId xmlns:a16="http://schemas.microsoft.com/office/drawing/2014/main" id="{77B4C887-D9B2-DAF1-F4B6-474B90A7E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596" y="1584497"/>
            <a:ext cx="8952807" cy="4429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67188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951AA-6E48-D523-3ADE-0F9EE6F0F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>
                <a:latin typeface="Gill Sans MT" panose="020B0502020104020203" pitchFamily="34" charset="77"/>
                <a:cs typeface="Times New Roman" pitchFamily="18" charset="0"/>
              </a:rPr>
              <a:t>Semantic net of </a:t>
            </a:r>
            <a:r>
              <a:rPr lang="en-AU" dirty="0">
                <a:latin typeface="Gill Sans MT" panose="020B0502020104020203" pitchFamily="34" charset="77"/>
                <a:cs typeface="Arial" charset="0"/>
              </a:rPr>
              <a:t>Newspaper </a:t>
            </a:r>
            <a:r>
              <a:rPr lang="en-AU" i="1" dirty="0">
                <a:latin typeface="Gill Sans MT" panose="020B0502020104020203" pitchFamily="34" charset="77"/>
                <a:cs typeface="Arial" charset="0"/>
              </a:rPr>
              <a:t>Advertises</a:t>
            </a:r>
            <a:r>
              <a:rPr lang="en-AU" dirty="0">
                <a:latin typeface="Gill Sans MT" panose="020B0502020104020203" pitchFamily="34" charset="77"/>
                <a:cs typeface="Arial" charset="0"/>
              </a:rPr>
              <a:t> </a:t>
            </a:r>
            <a:r>
              <a:rPr lang="en-AU" dirty="0" err="1">
                <a:latin typeface="Gill Sans MT" panose="020B0502020104020203" pitchFamily="34" charset="77"/>
                <a:cs typeface="Arial" charset="0"/>
              </a:rPr>
              <a:t>PropertyForRent</a:t>
            </a:r>
            <a:r>
              <a:rPr lang="en-AU" dirty="0">
                <a:latin typeface="Gill Sans MT" panose="020B0502020104020203" pitchFamily="34" charset="77"/>
                <a:cs typeface="Arial" charset="0"/>
              </a:rPr>
              <a:t> </a:t>
            </a:r>
            <a:r>
              <a:rPr lang="en-AU" dirty="0">
                <a:latin typeface="Gill Sans MT" panose="020B0502020104020203" pitchFamily="34" charset="77"/>
                <a:cs typeface="Times New Roman" pitchFamily="18" charset="0"/>
              </a:rPr>
              <a:t> relationship type</a:t>
            </a:r>
            <a:r>
              <a:rPr lang="en-GB" dirty="0">
                <a:latin typeface="Gill Sans MT" panose="020B0502020104020203" pitchFamily="34" charset="77"/>
              </a:rPr>
              <a:t> 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0A736-24B0-A16A-EE21-39C9825EA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2ECF5-D5F4-6215-E578-C09BD8203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5BF69-6030-549A-2C05-2E6A56985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34</a:t>
            </a:fld>
            <a:endParaRPr lang="en-CA" dirty="0"/>
          </a:p>
        </p:txBody>
      </p:sp>
      <p:pic>
        <p:nvPicPr>
          <p:cNvPr id="7" name="Picture 7" descr="DS3-Figure 11-16a">
            <a:extLst>
              <a:ext uri="{FF2B5EF4-FFF2-40B4-BE49-F238E27FC236}">
                <a16:creationId xmlns:a16="http://schemas.microsoft.com/office/drawing/2014/main" id="{D792098E-ACA0-4414-F837-1DC4C23DE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199" y="1417637"/>
            <a:ext cx="8278531" cy="4750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01180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B9125-E5E4-DC40-49C2-AB92DD3E2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>
                <a:latin typeface="Gill Sans MT" panose="020B0502020104020203" pitchFamily="34" charset="77"/>
                <a:cs typeface="Times New Roman" pitchFamily="18" charset="0"/>
              </a:rPr>
              <a:t>Multiplicity of </a:t>
            </a:r>
            <a:r>
              <a:rPr lang="en-AU" dirty="0">
                <a:latin typeface="Gill Sans MT" panose="020B0502020104020203" pitchFamily="34" charset="77"/>
                <a:cs typeface="Arial" charset="0"/>
              </a:rPr>
              <a:t>Newspaper </a:t>
            </a:r>
            <a:r>
              <a:rPr lang="en-AU" i="1" dirty="0">
                <a:latin typeface="Gill Sans MT" panose="020B0502020104020203" pitchFamily="34" charset="77"/>
                <a:cs typeface="Arial" charset="0"/>
              </a:rPr>
              <a:t>Advertises</a:t>
            </a:r>
            <a:r>
              <a:rPr lang="en-AU" dirty="0">
                <a:latin typeface="Gill Sans MT" panose="020B0502020104020203" pitchFamily="34" charset="77"/>
                <a:cs typeface="Arial" charset="0"/>
              </a:rPr>
              <a:t> </a:t>
            </a:r>
            <a:r>
              <a:rPr lang="en-AU" dirty="0" err="1">
                <a:latin typeface="Gill Sans MT" panose="020B0502020104020203" pitchFamily="34" charset="77"/>
                <a:cs typeface="Arial" charset="0"/>
              </a:rPr>
              <a:t>PropertyForRent</a:t>
            </a:r>
            <a:r>
              <a:rPr lang="en-AU" dirty="0">
                <a:latin typeface="Gill Sans MT" panose="020B0502020104020203" pitchFamily="34" charset="77"/>
                <a:cs typeface="Times New Roman" pitchFamily="18" charset="0"/>
              </a:rPr>
              <a:t> (*:*) relationship</a:t>
            </a:r>
            <a:r>
              <a:rPr lang="en-GB" dirty="0">
                <a:latin typeface="Gill Sans MT" panose="020B0502020104020203" pitchFamily="34" charset="77"/>
              </a:rPr>
              <a:t> 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C0699-2591-ADD3-C59B-1BE6F0DEF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08C34-6BCE-AF81-4150-AE595BBBE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E82BA-C22C-25C0-0C12-DB6B7257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35</a:t>
            </a:fld>
            <a:endParaRPr lang="en-CA" dirty="0"/>
          </a:p>
        </p:txBody>
      </p:sp>
      <p:pic>
        <p:nvPicPr>
          <p:cNvPr id="7" name="Picture 8" descr="DS3-Figure 11-16b">
            <a:extLst>
              <a:ext uri="{FF2B5EF4-FFF2-40B4-BE49-F238E27FC236}">
                <a16:creationId xmlns:a16="http://schemas.microsoft.com/office/drawing/2014/main" id="{03446D33-B630-97FF-0363-F842D840D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094" y="1605048"/>
            <a:ext cx="9039812" cy="4380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01958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C0DF4-30B7-7477-109B-341DC5D36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1C479-F02F-B69D-93EB-4955510EF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altLang="en-US" sz="3600" dirty="0">
                <a:latin typeface="Gill Sans MT" panose="020B0502020104020203" pitchFamily="34" charset="77"/>
                <a:cs typeface="Times New Roman" panose="02020603050405020304" pitchFamily="18" charset="0"/>
              </a:rPr>
              <a:t>Multiplicity for Complex Relationships </a:t>
            </a:r>
          </a:p>
          <a:p>
            <a:pPr lvl="1"/>
            <a:r>
              <a:rPr lang="en-AU" altLang="en-US" sz="3200" dirty="0">
                <a:latin typeface="Gill Sans MT" panose="020B0502020104020203" pitchFamily="34" charset="77"/>
                <a:cs typeface="Times New Roman" panose="02020603050405020304" pitchFamily="18" charset="0"/>
              </a:rPr>
              <a:t>Number (or range) of possible occurrences of an entity type in an </a:t>
            </a:r>
            <a:r>
              <a:rPr lang="en-AU" altLang="en-US" sz="3200" i="1" dirty="0">
                <a:latin typeface="Gill Sans MT" panose="020B0502020104020203" pitchFamily="34" charset="77"/>
                <a:cs typeface="Times New Roman" panose="02020603050405020304" pitchFamily="18" charset="0"/>
              </a:rPr>
              <a:t>n</a:t>
            </a:r>
            <a:r>
              <a:rPr lang="en-AU" altLang="en-US" sz="3200" dirty="0">
                <a:latin typeface="Gill Sans MT" panose="020B0502020104020203" pitchFamily="34" charset="77"/>
                <a:cs typeface="Times New Roman" panose="02020603050405020304" pitchFamily="18" charset="0"/>
              </a:rPr>
              <a:t>-</a:t>
            </a:r>
            <a:r>
              <a:rPr lang="en-AU" altLang="en-US" sz="3200" dirty="0" err="1">
                <a:latin typeface="Gill Sans MT" panose="020B0502020104020203" pitchFamily="34" charset="77"/>
                <a:cs typeface="Times New Roman" panose="02020603050405020304" pitchFamily="18" charset="0"/>
              </a:rPr>
              <a:t>ary</a:t>
            </a:r>
            <a:r>
              <a:rPr lang="en-AU" altLang="en-US" sz="3200" dirty="0">
                <a:latin typeface="Gill Sans MT" panose="020B0502020104020203" pitchFamily="34" charset="77"/>
                <a:cs typeface="Times New Roman" panose="02020603050405020304" pitchFamily="18" charset="0"/>
              </a:rPr>
              <a:t> relationship when other (</a:t>
            </a:r>
            <a:r>
              <a:rPr lang="en-AU" altLang="en-US" sz="3200" i="1" dirty="0">
                <a:latin typeface="Gill Sans MT" panose="020B0502020104020203" pitchFamily="34" charset="77"/>
                <a:cs typeface="Times New Roman" panose="02020603050405020304" pitchFamily="18" charset="0"/>
              </a:rPr>
              <a:t>n</a:t>
            </a:r>
            <a:r>
              <a:rPr lang="en-AU" altLang="en-US" sz="3200" dirty="0">
                <a:latin typeface="Gill Sans MT" panose="020B0502020104020203" pitchFamily="34" charset="77"/>
                <a:cs typeface="Times New Roman" panose="02020603050405020304" pitchFamily="18" charset="0"/>
              </a:rPr>
              <a:t>-1) values are fixed.</a:t>
            </a:r>
            <a:r>
              <a:rPr lang="en-GB" altLang="en-US" sz="3200" dirty="0">
                <a:latin typeface="Gill Sans MT" panose="020B0502020104020203" pitchFamily="34" charset="77"/>
                <a:cs typeface="Times New Roman" panose="02020603050405020304" pitchFamily="18" charset="0"/>
              </a:rPr>
              <a:t> </a:t>
            </a:r>
          </a:p>
          <a:p>
            <a:endParaRPr lang="en-US" sz="3600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AA4FA-5A02-AD18-D9E9-D3AB18564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95D35-335F-7F70-7E4D-B4158D23D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FC89B-B890-84A6-C0CA-AEC0266C9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36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908032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7FF57-15DA-28DB-FA9C-F91506A00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4733"/>
            <a:ext cx="10515600" cy="1235056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Gill Sans MT" panose="020B0502020104020203" pitchFamily="34" charset="77"/>
                <a:cs typeface="Times New Roman" pitchFamily="18" charset="0"/>
              </a:rPr>
              <a:t>Semantic net of ternary </a:t>
            </a:r>
            <a:r>
              <a:rPr lang="en-AU" i="1" dirty="0">
                <a:latin typeface="Gill Sans MT" panose="020B0502020104020203" pitchFamily="34" charset="77"/>
                <a:cs typeface="Arial" charset="0"/>
              </a:rPr>
              <a:t>Registers</a:t>
            </a:r>
            <a:r>
              <a:rPr lang="en-AU" dirty="0">
                <a:latin typeface="Gill Sans MT" panose="020B0502020104020203" pitchFamily="34" charset="77"/>
                <a:cs typeface="Times New Roman" pitchFamily="18" charset="0"/>
              </a:rPr>
              <a:t> relationship with values for Staff and Branch entities fixed</a:t>
            </a:r>
            <a:r>
              <a:rPr lang="en-GB" dirty="0">
                <a:latin typeface="Gill Sans MT" panose="020B0502020104020203" pitchFamily="34" charset="77"/>
              </a:rPr>
              <a:t> 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20400-EC42-D446-BDB7-A859C8767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08439-7A7A-C053-10CD-D112C984F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97311-EE47-9421-CF4B-137FB6779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37</a:t>
            </a:fld>
            <a:endParaRPr lang="en-CA" dirty="0"/>
          </a:p>
        </p:txBody>
      </p:sp>
      <p:pic>
        <p:nvPicPr>
          <p:cNvPr id="7" name="Picture 5" descr="DS3-Figure 11-17a">
            <a:extLst>
              <a:ext uri="{FF2B5EF4-FFF2-40B4-BE49-F238E27FC236}">
                <a16:creationId xmlns:a16="http://schemas.microsoft.com/office/drawing/2014/main" id="{016150E5-06F2-3D58-D456-50DC21F59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876" y="1740534"/>
            <a:ext cx="8900159" cy="4495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58801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96786-512B-27B6-8481-6B0C755B2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>
                <a:latin typeface="Gill Sans MT" panose="020B0502020104020203" pitchFamily="34" charset="77"/>
                <a:cs typeface="Times New Roman" pitchFamily="18" charset="0"/>
              </a:rPr>
              <a:t>Multiplicity of ternary </a:t>
            </a:r>
            <a:r>
              <a:rPr lang="en-AU" i="1" dirty="0">
                <a:latin typeface="Gill Sans MT" panose="020B0502020104020203" pitchFamily="34" charset="77"/>
                <a:cs typeface="Arial" charset="0"/>
              </a:rPr>
              <a:t>Registers</a:t>
            </a:r>
            <a:r>
              <a:rPr lang="en-AU" dirty="0">
                <a:latin typeface="Gill Sans MT" panose="020B0502020104020203" pitchFamily="34" charset="77"/>
                <a:cs typeface="Times New Roman" pitchFamily="18" charset="0"/>
              </a:rPr>
              <a:t> relationship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84004-6D74-9402-362C-0023146B5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B02C7-B13F-27D5-B13B-71B2DB332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7618D-F9F1-56EF-D61A-4C030C9ED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38</a:t>
            </a:fld>
            <a:endParaRPr lang="en-CA" dirty="0"/>
          </a:p>
        </p:txBody>
      </p:sp>
      <p:pic>
        <p:nvPicPr>
          <p:cNvPr id="7" name="Picture 1029" descr="DS3-Figure 11-17b">
            <a:extLst>
              <a:ext uri="{FF2B5EF4-FFF2-40B4-BE49-F238E27FC236}">
                <a16:creationId xmlns:a16="http://schemas.microsoft.com/office/drawing/2014/main" id="{A4338373-B79A-DD0F-2891-F46CD3518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418" y="1771360"/>
            <a:ext cx="9675163" cy="3930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64906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E5540-CE64-C6EA-E7F2-54854C8B3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multiplicity constraints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63A50-2D7A-6A90-3519-223B7DDE7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9B77C-55EA-8490-6524-99F4030BE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DC7CB-98D0-13E3-B9FE-5D451CB9B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39</a:t>
            </a:fld>
            <a:endParaRPr lang="en-CA" dirty="0"/>
          </a:p>
        </p:txBody>
      </p:sp>
      <p:pic>
        <p:nvPicPr>
          <p:cNvPr id="7" name="Picture 6" descr="DS3-Table 11-01">
            <a:extLst>
              <a:ext uri="{FF2B5EF4-FFF2-40B4-BE49-F238E27FC236}">
                <a16:creationId xmlns:a16="http://schemas.microsoft.com/office/drawing/2014/main" id="{FC509F1F-4B4F-215B-DF16-58155A512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" t="12500"/>
          <a:stretch>
            <a:fillRect/>
          </a:stretch>
        </p:blipFill>
        <p:spPr bwMode="auto">
          <a:xfrm>
            <a:off x="959202" y="1622631"/>
            <a:ext cx="10394598" cy="4278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95969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CD0C7-A378-B017-E41D-C0CDBDC67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DB1C5-9B3D-D160-ABCC-FE73D31E7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en-US" sz="3600" dirty="0">
                <a:latin typeface="Gill Sans MT" panose="020B0502020104020203" pitchFamily="34" charset="77"/>
              </a:rPr>
              <a:t>Multiplicity is made up of two types of restrictions on relationships: </a:t>
            </a:r>
            <a:r>
              <a:rPr lang="en-GB" altLang="en-US" sz="3600" i="1" dirty="0">
                <a:latin typeface="Gill Sans MT" panose="020B0502020104020203" pitchFamily="34" charset="77"/>
              </a:rPr>
              <a:t>cardinality</a:t>
            </a:r>
            <a:r>
              <a:rPr lang="en-GB" altLang="en-US" sz="3600" dirty="0">
                <a:latin typeface="Gill Sans MT" panose="020B0502020104020203" pitchFamily="34" charset="77"/>
              </a:rPr>
              <a:t> and </a:t>
            </a:r>
            <a:r>
              <a:rPr lang="en-GB" altLang="en-US" sz="3600" i="1" dirty="0">
                <a:latin typeface="Gill Sans MT" panose="020B0502020104020203" pitchFamily="34" charset="77"/>
              </a:rPr>
              <a:t>participation</a:t>
            </a:r>
            <a:r>
              <a:rPr lang="en-GB" altLang="en-US" sz="3600" dirty="0">
                <a:latin typeface="Gill Sans MT" panose="020B0502020104020203" pitchFamily="34" charset="77"/>
              </a:rPr>
              <a:t>.</a:t>
            </a:r>
          </a:p>
          <a:p>
            <a:pPr>
              <a:lnSpc>
                <a:spcPct val="0"/>
              </a:lnSpc>
            </a:pPr>
            <a:endParaRPr lang="en-GB" altLang="en-US" sz="3600" dirty="0">
              <a:latin typeface="Gill Sans MT" panose="020B0502020104020203" pitchFamily="34" charset="77"/>
            </a:endParaRPr>
          </a:p>
          <a:p>
            <a:endParaRPr lang="en-GB" altLang="en-US" sz="3600" dirty="0">
              <a:latin typeface="Gill Sans MT" panose="020B0502020104020203" pitchFamily="34" charset="77"/>
              <a:cs typeface="Times New Roman" panose="02020603050405020304" pitchFamily="18" charset="0"/>
            </a:endParaRPr>
          </a:p>
          <a:p>
            <a:endParaRPr lang="en-US" sz="3600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9A30A-07F2-3A30-2116-E33FE4131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3ED88-A9D8-0280-EFC0-ECEC20285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BD001-7EAB-7D12-9095-D44060E8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40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215595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CA337-E7CD-9AAF-9FF3-661B4A5D0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89858-DF29-E997-D1DA-5F1690519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0"/>
              </a:lnSpc>
            </a:pPr>
            <a:endParaRPr lang="en-GB" altLang="en-US" sz="3600" dirty="0">
              <a:latin typeface="Gill Sans MT" panose="020B0502020104020203" pitchFamily="34" charset="77"/>
            </a:endParaRPr>
          </a:p>
          <a:p>
            <a:r>
              <a:rPr lang="en-GB" altLang="en-US" sz="3600" dirty="0">
                <a:latin typeface="Gill Sans MT" panose="020B0502020104020203" pitchFamily="34" charset="77"/>
              </a:rPr>
              <a:t>Cardinality </a:t>
            </a:r>
          </a:p>
          <a:p>
            <a:pPr lvl="1"/>
            <a:r>
              <a:rPr lang="en-AU" altLang="en-US" sz="3200" dirty="0">
                <a:latin typeface="Gill Sans MT" panose="020B0502020104020203" pitchFamily="34" charset="77"/>
                <a:cs typeface="Times New Roman" panose="02020603050405020304" pitchFamily="18" charset="0"/>
              </a:rPr>
              <a:t>Describes maximum number of possible relationship occurrences for an entity participating in a given relationship type.</a:t>
            </a:r>
            <a:r>
              <a:rPr lang="en-GB" altLang="en-US" sz="3200" dirty="0">
                <a:latin typeface="Gill Sans MT" panose="020B0502020104020203" pitchFamily="34" charset="77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0000"/>
              </a:lnSpc>
            </a:pPr>
            <a:endParaRPr lang="en-GB" altLang="en-US" sz="3200" dirty="0">
              <a:latin typeface="Gill Sans MT" panose="020B0502020104020203" pitchFamily="34" charset="77"/>
              <a:cs typeface="Times New Roman" panose="02020603050405020304" pitchFamily="18" charset="0"/>
            </a:endParaRPr>
          </a:p>
          <a:p>
            <a:r>
              <a:rPr lang="en-GB" altLang="en-US" sz="3600" dirty="0">
                <a:latin typeface="Gill Sans MT" panose="020B0502020104020203" pitchFamily="34" charset="77"/>
              </a:rPr>
              <a:t>Participation</a:t>
            </a:r>
          </a:p>
          <a:p>
            <a:pPr lvl="1"/>
            <a:r>
              <a:rPr lang="en-AU" altLang="en-US" sz="3200" dirty="0">
                <a:latin typeface="Gill Sans MT" panose="020B0502020104020203" pitchFamily="34" charset="77"/>
                <a:cs typeface="Times New Roman" panose="02020603050405020304" pitchFamily="18" charset="0"/>
              </a:rPr>
              <a:t>Determines whether all or only some entity occurrences participate in a relationship.</a:t>
            </a:r>
            <a:endParaRPr lang="en-GB" altLang="en-US" sz="3200" dirty="0">
              <a:latin typeface="Gill Sans MT" panose="020B0502020104020203" pitchFamily="34" charset="77"/>
              <a:cs typeface="Times New Roman" panose="02020603050405020304" pitchFamily="18" charset="0"/>
            </a:endParaRPr>
          </a:p>
          <a:p>
            <a:endParaRPr lang="en-US" sz="3600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8ADDA-6EA9-2A9C-0BC1-07555030E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F87AD-44BD-89ED-18A4-AAEA090A9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A7E89-3D97-8EBA-8B3A-B1FC9D6EB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41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673293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4A8BB-2BFE-5C44-0C3B-CC79D52BC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>
                <a:latin typeface="Gill Sans MT" panose="020B0502020104020203" pitchFamily="34" charset="77"/>
                <a:cs typeface="Times New Roman" pitchFamily="18" charset="0"/>
              </a:rPr>
              <a:t>Multiplicity as cardinality and participation constraints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F6B62-4B7B-31A7-A7E1-80F454700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18D14-0E81-AFD8-28CF-AD67A8F66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B2F90-5CD2-0A4A-9B19-E532BD180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42</a:t>
            </a:fld>
            <a:endParaRPr lang="en-CA" dirty="0"/>
          </a:p>
        </p:txBody>
      </p:sp>
      <p:pic>
        <p:nvPicPr>
          <p:cNvPr id="7" name="Picture 1029" descr="DS3-Figure 11-18">
            <a:extLst>
              <a:ext uri="{FF2B5EF4-FFF2-40B4-BE49-F238E27FC236}">
                <a16:creationId xmlns:a16="http://schemas.microsoft.com/office/drawing/2014/main" id="{32CB9E04-AE7F-7069-6138-725122F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9087" y="1349903"/>
            <a:ext cx="6493826" cy="5189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51575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F32B5-1EA1-D87B-1296-A5AE63BA1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ill Sans MT" panose="020B0502020104020203" pitchFamily="34" charset="77"/>
              </a:rPr>
              <a:t>Problems with ER Models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61238-F1EF-0373-44A7-56322016C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en-US" sz="3200" dirty="0">
                <a:latin typeface="Gill Sans MT" panose="020B0502020104020203" pitchFamily="34" charset="77"/>
              </a:rPr>
              <a:t>Problems may arise when designing a conceptual data model called </a:t>
            </a:r>
            <a:r>
              <a:rPr lang="en-GB" altLang="en-US" sz="3200" i="1" dirty="0">
                <a:solidFill>
                  <a:srgbClr val="C00000"/>
                </a:solidFill>
                <a:latin typeface="Gill Sans MT" panose="020B0502020104020203" pitchFamily="34" charset="77"/>
              </a:rPr>
              <a:t>connection traps</a:t>
            </a:r>
            <a:r>
              <a:rPr lang="en-GB" altLang="en-US" sz="3200" dirty="0">
                <a:latin typeface="Gill Sans MT" panose="020B0502020104020203" pitchFamily="34" charset="77"/>
              </a:rPr>
              <a:t>.  </a:t>
            </a:r>
          </a:p>
          <a:p>
            <a:pPr>
              <a:lnSpc>
                <a:spcPct val="30000"/>
              </a:lnSpc>
            </a:pPr>
            <a:endParaRPr lang="en-GB" altLang="en-US" sz="3200" dirty="0">
              <a:latin typeface="Gill Sans MT" panose="020B0502020104020203" pitchFamily="34" charset="77"/>
            </a:endParaRPr>
          </a:p>
          <a:p>
            <a:r>
              <a:rPr lang="en-GB" altLang="en-US" sz="3200" dirty="0">
                <a:latin typeface="Gill Sans MT" panose="020B0502020104020203" pitchFamily="34" charset="77"/>
              </a:rPr>
              <a:t>Often due to a misinterpretation of the meaning of certain relationships.</a:t>
            </a:r>
          </a:p>
          <a:p>
            <a:pPr>
              <a:lnSpc>
                <a:spcPct val="30000"/>
              </a:lnSpc>
            </a:pPr>
            <a:endParaRPr lang="en-GB" altLang="en-US" sz="3200" dirty="0">
              <a:latin typeface="Gill Sans MT" panose="020B0502020104020203" pitchFamily="34" charset="77"/>
            </a:endParaRPr>
          </a:p>
          <a:p>
            <a:r>
              <a:rPr lang="en-GB" altLang="en-US" sz="3200" dirty="0">
                <a:latin typeface="Gill Sans MT" panose="020B0502020104020203" pitchFamily="34" charset="77"/>
              </a:rPr>
              <a:t>Two main types of connection traps are called </a:t>
            </a:r>
            <a:r>
              <a:rPr lang="en-GB" altLang="en-US" sz="3200" i="1" dirty="0">
                <a:solidFill>
                  <a:srgbClr val="C00000"/>
                </a:solidFill>
                <a:latin typeface="Gill Sans MT" panose="020B0502020104020203" pitchFamily="34" charset="77"/>
              </a:rPr>
              <a:t>fan traps </a:t>
            </a:r>
            <a:r>
              <a:rPr lang="en-GB" altLang="en-US" sz="3200" dirty="0">
                <a:latin typeface="Gill Sans MT" panose="020B0502020104020203" pitchFamily="34" charset="77"/>
              </a:rPr>
              <a:t>and </a:t>
            </a:r>
            <a:r>
              <a:rPr lang="en-GB" altLang="en-US" sz="3200" i="1" dirty="0">
                <a:solidFill>
                  <a:srgbClr val="C00000"/>
                </a:solidFill>
                <a:latin typeface="Gill Sans MT" panose="020B0502020104020203" pitchFamily="34" charset="77"/>
              </a:rPr>
              <a:t>chasm</a:t>
            </a:r>
            <a:r>
              <a:rPr lang="en-GB" altLang="en-US" sz="3200" dirty="0">
                <a:solidFill>
                  <a:srgbClr val="C00000"/>
                </a:solidFill>
                <a:latin typeface="Gill Sans MT" panose="020B0502020104020203" pitchFamily="34" charset="77"/>
              </a:rPr>
              <a:t> </a:t>
            </a:r>
            <a:r>
              <a:rPr lang="en-GB" altLang="en-US" sz="3200" i="1" dirty="0">
                <a:solidFill>
                  <a:srgbClr val="C00000"/>
                </a:solidFill>
                <a:latin typeface="Gill Sans MT" panose="020B0502020104020203" pitchFamily="34" charset="77"/>
              </a:rPr>
              <a:t>traps</a:t>
            </a:r>
            <a:r>
              <a:rPr lang="en-GB" altLang="en-US" sz="3200" dirty="0">
                <a:latin typeface="Gill Sans MT" panose="020B0502020104020203" pitchFamily="34" charset="77"/>
              </a:rPr>
              <a:t>.</a:t>
            </a:r>
          </a:p>
          <a:p>
            <a:endParaRPr lang="en-US" sz="3200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610C7-C888-28A1-7B66-F2CF7B80B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58F44-7018-50BB-81C9-B6D6C618C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590AC-6FE0-BC89-A363-0C5627D01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43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830582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9108E-234D-A377-D532-66262D7AC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ill Sans MT" panose="020B0502020104020203" pitchFamily="34" charset="77"/>
              </a:rPr>
              <a:t>Problems with ER Models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12CED-3E48-1BB8-495F-D56F39239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en-US" sz="3600" dirty="0">
                <a:solidFill>
                  <a:srgbClr val="C00000"/>
                </a:solidFill>
                <a:latin typeface="Gill Sans MT" panose="020B0502020104020203" pitchFamily="34" charset="77"/>
              </a:rPr>
              <a:t>Fan Trap</a:t>
            </a:r>
          </a:p>
          <a:p>
            <a:pPr lvl="1"/>
            <a:r>
              <a:rPr lang="en-AU" altLang="en-US" sz="3200" dirty="0">
                <a:latin typeface="Gill Sans MT" panose="020B0502020104020203" pitchFamily="34" charset="77"/>
                <a:cs typeface="Times New Roman" panose="02020603050405020304" pitchFamily="18" charset="0"/>
              </a:rPr>
              <a:t>Where a model represents a relationship between entity types, but pathway between certain entity occurrences is ambiguous.</a:t>
            </a:r>
            <a:r>
              <a:rPr lang="en-GB" altLang="en-US" sz="3200" dirty="0">
                <a:latin typeface="Gill Sans MT" panose="020B0502020104020203" pitchFamily="34" charset="77"/>
              </a:rPr>
              <a:t> </a:t>
            </a:r>
          </a:p>
          <a:p>
            <a:pPr lvl="1">
              <a:lnSpc>
                <a:spcPct val="30000"/>
              </a:lnSpc>
            </a:pPr>
            <a:endParaRPr lang="en-GB" altLang="en-US" sz="3200" dirty="0">
              <a:latin typeface="Gill Sans MT" panose="020B0502020104020203" pitchFamily="34" charset="77"/>
            </a:endParaRPr>
          </a:p>
          <a:p>
            <a:r>
              <a:rPr lang="en-GB" altLang="en-US" sz="3600" dirty="0">
                <a:solidFill>
                  <a:srgbClr val="C00000"/>
                </a:solidFill>
                <a:latin typeface="Gill Sans MT" panose="020B0502020104020203" pitchFamily="34" charset="77"/>
              </a:rPr>
              <a:t>Chasm Trap</a:t>
            </a:r>
          </a:p>
          <a:p>
            <a:pPr lvl="1"/>
            <a:r>
              <a:rPr lang="en-AU" altLang="en-US" sz="3200" dirty="0">
                <a:latin typeface="Gill Sans MT" panose="020B0502020104020203" pitchFamily="34" charset="77"/>
                <a:cs typeface="Times New Roman" panose="02020603050405020304" pitchFamily="18" charset="0"/>
              </a:rPr>
              <a:t>Where a model suggests the existence of a relationship between entity types, but pathway does not exist between certain entity occurrences.</a:t>
            </a:r>
            <a:r>
              <a:rPr lang="en-GB" altLang="en-US" sz="3200" dirty="0">
                <a:latin typeface="Gill Sans MT" panose="020B0502020104020203" pitchFamily="34" charset="77"/>
              </a:rPr>
              <a:t> </a:t>
            </a:r>
          </a:p>
          <a:p>
            <a:endParaRPr lang="en-US" sz="3600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8A81E-6D4F-ED16-7505-3A58C4D7D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49474-3EFE-2F34-7001-E1354D588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4B413-5740-F961-EE25-F219D8D35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44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227365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E0D7D-FFE9-7437-BE15-A0F9D205D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ill Sans MT" panose="020B0502020104020203" pitchFamily="34" charset="77"/>
              </a:rPr>
              <a:t>An Example of a Fan Trap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CC1A3-20F4-5028-B739-0CA9DC2E9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0116E-9696-3B65-15AC-C919DFB9A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C0E09-C16A-C84C-D965-2CB10BCCC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45</a:t>
            </a:fld>
            <a:endParaRPr lang="en-CA" dirty="0"/>
          </a:p>
        </p:txBody>
      </p:sp>
      <p:pic>
        <p:nvPicPr>
          <p:cNvPr id="7" name="Picture 8" descr="DS3-Figure 11-19a">
            <a:extLst>
              <a:ext uri="{FF2B5EF4-FFF2-40B4-BE49-F238E27FC236}">
                <a16:creationId xmlns:a16="http://schemas.microsoft.com/office/drawing/2014/main" id="{ACDC3F3B-0D9D-2D7E-EAC5-40D24C01D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497" y="2606772"/>
            <a:ext cx="11829503" cy="1474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4988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28DDA-78D5-281C-0041-413CE2B62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Net of ER Model with Fan Trap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D7C8F-5F0B-2C29-B303-F4496ABC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46477-EF66-EA54-0F58-70EF0086F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980D5-09B4-F024-6A0F-32A06F37B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46</a:t>
            </a:fld>
            <a:endParaRPr lang="en-CA" dirty="0"/>
          </a:p>
        </p:txBody>
      </p:sp>
      <p:pic>
        <p:nvPicPr>
          <p:cNvPr id="7" name="Picture 8" descr="DS3-Figure 11-19b">
            <a:extLst>
              <a:ext uri="{FF2B5EF4-FFF2-40B4-BE49-F238E27FC236}">
                <a16:creationId xmlns:a16="http://schemas.microsoft.com/office/drawing/2014/main" id="{26E148CF-17A4-F41B-F575-EF20341B8B4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454" y="1413163"/>
            <a:ext cx="9403080" cy="3500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236EFA-5346-0F5E-7CDD-6DF79805332E}"/>
              </a:ext>
            </a:extLst>
          </p:cNvPr>
          <p:cNvSpPr txBox="1"/>
          <p:nvPr/>
        </p:nvSpPr>
        <p:spPr>
          <a:xfrm>
            <a:off x="1138843" y="5373164"/>
            <a:ext cx="9403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sz="2800" b="1" dirty="0">
                <a:latin typeface="Gill Sans MT" panose="020B0502020104020203" pitchFamily="34" charset="77"/>
              </a:rPr>
              <a:t>At which branch office does staff number SG37 work?</a:t>
            </a:r>
          </a:p>
        </p:txBody>
      </p:sp>
    </p:spTree>
    <p:extLst>
      <p:ext uri="{BB962C8B-B14F-4D97-AF65-F5344CB8AC3E}">
        <p14:creationId xmlns:p14="http://schemas.microsoft.com/office/powerpoint/2010/main" val="7170417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F21A4-3566-BEF0-8226-6F2E8AB5E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Gill Sans MT" panose="020B0502020104020203" pitchFamily="34" charset="77"/>
              </a:rPr>
              <a:t>Restructuring ER model to remove Fan Trap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42F90-53BD-6463-BCA2-F48CFE1F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2D686-9121-D284-9351-A5E3BCFA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7AEDC-BC35-FDFA-F8AB-C9337A5E8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47</a:t>
            </a:fld>
            <a:endParaRPr lang="en-CA" dirty="0"/>
          </a:p>
        </p:txBody>
      </p:sp>
      <p:pic>
        <p:nvPicPr>
          <p:cNvPr id="7" name="Picture 8" descr="DS3-Figure 11-20a">
            <a:extLst>
              <a:ext uri="{FF2B5EF4-FFF2-40B4-BE49-F238E27FC236}">
                <a16:creationId xmlns:a16="http://schemas.microsoft.com/office/drawing/2014/main" id="{FBD0F036-8C19-3C15-DDE0-9FC821BB3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761" y="1961201"/>
            <a:ext cx="11878478" cy="357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23316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86B84-C28F-B4BC-9BA3-EAB6BFDCC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Gill Sans MT" panose="020B0502020104020203" pitchFamily="34" charset="77"/>
              </a:rPr>
              <a:t>Semantic Net of Restructured ER Model with Fan Trap Removed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4C85F-CA33-6172-9312-9930747A7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6956" y="5458691"/>
            <a:ext cx="5253644" cy="972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altLang="en-US" dirty="0">
                <a:latin typeface="Gill Sans MT" panose="020B0502020104020203" pitchFamily="34" charset="77"/>
              </a:rPr>
              <a:t>SG37 works at branch B003.</a:t>
            </a:r>
          </a:p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496B9-30D3-9824-854A-7BF2D2D3F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dirty="0"/>
              <a:t>CSE 341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7075F-CC52-965F-003C-BF4726473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8B8EC-0E80-46E4-ACE7-C7876EBA8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48</a:t>
            </a:fld>
            <a:endParaRPr lang="en-CA" dirty="0"/>
          </a:p>
        </p:txBody>
      </p:sp>
      <p:pic>
        <p:nvPicPr>
          <p:cNvPr id="7" name="Picture 9" descr="DS3-Figure 11-20b">
            <a:extLst>
              <a:ext uri="{FF2B5EF4-FFF2-40B4-BE49-F238E27FC236}">
                <a16:creationId xmlns:a16="http://schemas.microsoft.com/office/drawing/2014/main" id="{58BC080C-7638-0D52-F562-34E68435E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5355" y="1493520"/>
            <a:ext cx="9381290" cy="3482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46215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C23F-33A2-C688-B5B2-300B895DD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of a Chasm Trap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F7EB2-4CDD-291B-245B-DC0452DB3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6F99E-3F39-66C5-9232-12BCF992F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CEA1A-7554-1707-2DBD-E57545399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49</a:t>
            </a:fld>
            <a:endParaRPr lang="en-CA" dirty="0"/>
          </a:p>
        </p:txBody>
      </p:sp>
      <p:pic>
        <p:nvPicPr>
          <p:cNvPr id="7" name="Picture 9" descr="DS3-Figure 11-21a">
            <a:extLst>
              <a:ext uri="{FF2B5EF4-FFF2-40B4-BE49-F238E27FC236}">
                <a16:creationId xmlns:a16="http://schemas.microsoft.com/office/drawing/2014/main" id="{4F674C5B-CAD7-96CC-C73C-51E5FE223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987" y="2456391"/>
            <a:ext cx="10040026" cy="138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43948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F3256-E8BF-6CE9-3B11-C5BA09CD5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Gill Sans MT" panose="020B0502020104020203" pitchFamily="34" charset="77"/>
              </a:rPr>
              <a:t>Semantic Net of ER Model with Chasm Trap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EE3FD-3B96-87C1-F150-2F25E4549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04015"/>
            <a:ext cx="10515600" cy="1106815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At which branch office is property PA14 available?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3DB27-7B7E-4EC6-895D-99F2FB4A6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86ADD-B091-689E-B1FB-2CA249083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6DF63-9974-EF0E-6C04-109DD52F9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50</a:t>
            </a:fld>
            <a:endParaRPr lang="en-CA" dirty="0"/>
          </a:p>
        </p:txBody>
      </p:sp>
      <p:pic>
        <p:nvPicPr>
          <p:cNvPr id="7" name="Picture 8" descr="DS3-Figure 11-21b">
            <a:extLst>
              <a:ext uri="{FF2B5EF4-FFF2-40B4-BE49-F238E27FC236}">
                <a16:creationId xmlns:a16="http://schemas.microsoft.com/office/drawing/2014/main" id="{44A1B655-2492-D4CE-7593-E87F9D557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3324" y="1495741"/>
            <a:ext cx="8685351" cy="3146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6049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FEE04-413A-DA66-D036-2323CB179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ER Model restructured to remove Chasm Trap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FDA5A-0414-29E5-78A4-1249E67D2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D9546-727D-991A-7CD9-067C75662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002FA-58BA-D951-E5B8-7134DC332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51</a:t>
            </a:fld>
            <a:endParaRPr lang="en-CA" dirty="0"/>
          </a:p>
        </p:txBody>
      </p:sp>
      <p:pic>
        <p:nvPicPr>
          <p:cNvPr id="7" name="Picture 9" descr="DS3-Figure 11-22a">
            <a:extLst>
              <a:ext uri="{FF2B5EF4-FFF2-40B4-BE49-F238E27FC236}">
                <a16:creationId xmlns:a16="http://schemas.microsoft.com/office/drawing/2014/main" id="{706D5617-79EB-60B0-F6B3-D82F29A4D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53" y="1605145"/>
            <a:ext cx="9424708" cy="3030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38611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80951-54EE-8B99-56B1-CF86618D8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Semantic Net of Restructured ER Model with Chasm Trap Removed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FD6CD-5EE2-7E6D-AE2B-2651F8997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C74AC-D4DB-FCBF-DB47-42C2157E4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55CB9-A275-75C4-3E85-4CAA1D8EC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52</a:t>
            </a:fld>
            <a:endParaRPr lang="en-CA" dirty="0"/>
          </a:p>
        </p:txBody>
      </p:sp>
      <p:pic>
        <p:nvPicPr>
          <p:cNvPr id="7" name="Picture 9" descr="DS3-Figure 11-22b">
            <a:extLst>
              <a:ext uri="{FF2B5EF4-FFF2-40B4-BE49-F238E27FC236}">
                <a16:creationId xmlns:a16="http://schemas.microsoft.com/office/drawing/2014/main" id="{8B2BBB2A-67F5-B5DB-C884-8FC0A7A18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476" y="1583946"/>
            <a:ext cx="6616902" cy="507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67416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E22E7-F565-D55A-ADB0-71FA1E1AE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9E4E3-F994-7D1C-1361-56AECBFAB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5000" dirty="0"/>
          </a:p>
          <a:p>
            <a:pPr marL="0" indent="0" algn="ctr">
              <a:buNone/>
            </a:pPr>
            <a:endParaRPr lang="en-US" sz="5000" dirty="0"/>
          </a:p>
          <a:p>
            <a:pPr marL="0" indent="0" algn="ctr">
              <a:buNone/>
            </a:pPr>
            <a:r>
              <a:rPr lang="en-US" sz="5000" dirty="0">
                <a:solidFill>
                  <a:srgbClr val="C00000"/>
                </a:solidFill>
              </a:rPr>
              <a:t>Enhanced Entity-Relationship Modeling (EER)</a:t>
            </a:r>
          </a:p>
          <a:p>
            <a:pPr marL="0" indent="0" algn="ctr">
              <a:buNone/>
            </a:pPr>
            <a:r>
              <a:rPr lang="en-US" sz="5000" dirty="0">
                <a:solidFill>
                  <a:srgbClr val="C00000"/>
                </a:solidFill>
              </a:rPr>
              <a:t>Relationship Model – part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E8B85-445A-4A26-A17C-3627D33B9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/>
              <a:t>CSE 341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C0764-AE69-5BE0-D636-908655CEE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El Mezouar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2999D-6E22-9639-9658-3C38CBE65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B2D38-371C-44E4-9996-48BC4E19D9BD}" type="slidenum">
              <a:rPr lang="en-CA" smtClean="0"/>
              <a:pPr/>
              <a:t>53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73731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4723</TotalTime>
  <Words>1307</Words>
  <Application>Microsoft Macintosh PowerPoint</Application>
  <PresentationFormat>Widescreen</PresentationFormat>
  <Paragraphs>314</Paragraphs>
  <Slides>53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8" baseType="lpstr">
      <vt:lpstr>Arial</vt:lpstr>
      <vt:lpstr>Calibri</vt:lpstr>
      <vt:lpstr>Gill Sans MT</vt:lpstr>
      <vt:lpstr>Times New Roman</vt:lpstr>
      <vt:lpstr>Office Theme</vt:lpstr>
      <vt:lpstr>Entity Relationship Modeling</vt:lpstr>
      <vt:lpstr>Objectives</vt:lpstr>
      <vt:lpstr>The DreamHome case study </vt:lpstr>
      <vt:lpstr>ER diagram of Branch user views of DreamHome</vt:lpstr>
      <vt:lpstr>Concepts of the ER Model</vt:lpstr>
      <vt:lpstr>Entity Type</vt:lpstr>
      <vt:lpstr>Examples of Entity Types</vt:lpstr>
      <vt:lpstr>ER diagram of Staff and Branch entity types</vt:lpstr>
      <vt:lpstr>Relationship Types</vt:lpstr>
      <vt:lpstr>Semantic net of Has relationship type</vt:lpstr>
      <vt:lpstr>ER diagram of Branch Has Staff relationship </vt:lpstr>
      <vt:lpstr>Relationship Types</vt:lpstr>
      <vt:lpstr>Binary relationship called POwns</vt:lpstr>
      <vt:lpstr>Ternary relationship called Registers</vt:lpstr>
      <vt:lpstr>Quaternary relationship called Arranges</vt:lpstr>
      <vt:lpstr>Relationship Types</vt:lpstr>
      <vt:lpstr>Recursive relationship called Supervises with role names</vt:lpstr>
      <vt:lpstr>Entities associated through two distinct relationships with role names</vt:lpstr>
      <vt:lpstr>Attributes</vt:lpstr>
      <vt:lpstr>Attributes</vt:lpstr>
      <vt:lpstr>Attributes</vt:lpstr>
      <vt:lpstr>Attributes</vt:lpstr>
      <vt:lpstr>Keys</vt:lpstr>
      <vt:lpstr>ER diagram of  Staff and  Branch entities and their attributes</vt:lpstr>
      <vt:lpstr>Entity Type</vt:lpstr>
      <vt:lpstr>Strong entity type called Client and weak entity type called Preference </vt:lpstr>
      <vt:lpstr>Relationship called Advertises with attributes</vt:lpstr>
      <vt:lpstr>Structural Constraints</vt:lpstr>
      <vt:lpstr>Structural Constraints</vt:lpstr>
      <vt:lpstr>Semantic net of Staff Manages Branch relationship type </vt:lpstr>
      <vt:lpstr>Multiplicity of Staff Manages Branch (1:1) relationship </vt:lpstr>
      <vt:lpstr>Semantic net of Staff Oversees PropertyForRent relationship type</vt:lpstr>
      <vt:lpstr>Multiplicity of Staff Oversees PropertyForRent (1:*) relationship type </vt:lpstr>
      <vt:lpstr>Semantic net of Newspaper Advertises PropertyForRent  relationship type </vt:lpstr>
      <vt:lpstr>Multiplicity of Newspaper Advertises PropertyForRent (*:*) relationship </vt:lpstr>
      <vt:lpstr>Structural Constraints</vt:lpstr>
      <vt:lpstr>Semantic net of ternary Registers relationship with values for Staff and Branch entities fixed </vt:lpstr>
      <vt:lpstr>Multiplicity of ternary Registers relationship</vt:lpstr>
      <vt:lpstr>Summary of multiplicity constraints</vt:lpstr>
      <vt:lpstr>Structural Constraints</vt:lpstr>
      <vt:lpstr>Structural Constraints</vt:lpstr>
      <vt:lpstr>Multiplicity as cardinality and participation constraints</vt:lpstr>
      <vt:lpstr>Problems with ER Models</vt:lpstr>
      <vt:lpstr>Problems with ER Models</vt:lpstr>
      <vt:lpstr>An Example of a Fan Trap</vt:lpstr>
      <vt:lpstr>Semantic Net of ER Model with Fan Trap</vt:lpstr>
      <vt:lpstr>Restructuring ER model to remove Fan Trap</vt:lpstr>
      <vt:lpstr>Semantic Net of Restructured ER Model with Fan Trap Removed</vt:lpstr>
      <vt:lpstr>An Example of a Chasm Trap</vt:lpstr>
      <vt:lpstr>Semantic Net of ER Model with Chasm Trap</vt:lpstr>
      <vt:lpstr>ER Model restructured to remove Chasm Trap</vt:lpstr>
      <vt:lpstr>Semantic Net of Restructured ER Model with Chasm Trap Removed</vt:lpstr>
      <vt:lpstr>Next…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Mariam El Mezouar</dc:creator>
  <cp:lastModifiedBy>Mariam El Mezouar</cp:lastModifiedBy>
  <cp:revision>172</cp:revision>
  <dcterms:created xsi:type="dcterms:W3CDTF">2022-01-11T19:58:56Z</dcterms:created>
  <dcterms:modified xsi:type="dcterms:W3CDTF">2024-01-15T16:36:51Z</dcterms:modified>
</cp:coreProperties>
</file>